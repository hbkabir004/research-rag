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5" r:id="rId2"/>
    <p:sldId id="269" r:id="rId3"/>
    <p:sldId id="264" r:id="rId4"/>
    <p:sldId id="257" r:id="rId5"/>
    <p:sldId id="258" r:id="rId6"/>
    <p:sldId id="275" r:id="rId7"/>
    <p:sldId id="259" r:id="rId8"/>
    <p:sldId id="260" r:id="rId9"/>
    <p:sldId id="261" r:id="rId10"/>
    <p:sldId id="262" r:id="rId11"/>
    <p:sldId id="272" r:id="rId12"/>
    <p:sldId id="273" r:id="rId13"/>
    <p:sldId id="27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506" y="-1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3A06EE-C616-49EE-B029-0B7A05A65EA1}" type="datetimeFigureOut">
              <a:rPr lang="en-US" smtClean="0"/>
              <a:pPr/>
              <a:t>9/26/2023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2319F4-434D-47AF-872C-29434D6C97F3}" type="slidenum">
              <a:rPr lang="en-US" smtClean="0"/>
              <a:pPr/>
              <a:t>‹#›</a:t>
            </a:fld>
            <a:endParaRPr lang="en-US"/>
          </a:p>
        </p:txBody>
      </p:sp>
    </p:spTree>
    <p:extLst>
      <p:ext uri="{BB962C8B-B14F-4D97-AF65-F5344CB8AC3E}">
        <p14:creationId xmlns:p14="http://schemas.microsoft.com/office/powerpoint/2010/main" val="3738470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2319F4-434D-47AF-872C-29434D6C97F3}"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1470025"/>
          </a:xfrm>
        </p:spPr>
        <p:txBody>
          <a:bodyPr/>
          <a:lstStyle/>
          <a:p>
            <a:r>
              <a:rPr lang="en-US" b="1" dirty="0">
                <a:solidFill>
                  <a:srgbClr val="C00000"/>
                </a:solidFill>
              </a:rPr>
              <a:t>Threats to Freshwater Fishes</a:t>
            </a:r>
            <a:br>
              <a:rPr lang="en-US" b="1" dirty="0">
                <a:solidFill>
                  <a:srgbClr val="C00000"/>
                </a:solidFill>
              </a:rPr>
            </a:br>
            <a:r>
              <a:rPr lang="en-US" b="1" dirty="0">
                <a:solidFill>
                  <a:srgbClr val="C00000"/>
                </a:solidFill>
              </a:rPr>
              <a:t>in Bangladesh</a:t>
            </a:r>
            <a:endParaRPr lang="en-US" dirty="0"/>
          </a:p>
        </p:txBody>
      </p:sp>
    </p:spTree>
    <p:extLst>
      <p:ext uri="{BB962C8B-B14F-4D97-AF65-F5344CB8AC3E}">
        <p14:creationId xmlns:p14="http://schemas.microsoft.com/office/powerpoint/2010/main" val="4130410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25963"/>
          </a:xfrm>
        </p:spPr>
        <p:txBody>
          <a:bodyPr>
            <a:normAutofit fontScale="85000" lnSpcReduction="10000"/>
          </a:bodyPr>
          <a:lstStyle/>
          <a:p>
            <a:pPr algn="just"/>
            <a:r>
              <a:rPr lang="en-US" dirty="0"/>
              <a:t>Fish species diversity in the open water is the integral part of inland capture fisheries production that has been limited by a variety of factors, including habitat loss as a result of agricultural intensification, </a:t>
            </a:r>
            <a:r>
              <a:rPr lang="en-US" dirty="0" smtClean="0"/>
              <a:t>urbanization</a:t>
            </a:r>
            <a:r>
              <a:rPr lang="en-US" dirty="0"/>
              <a:t>, environmental degradation and pollution, the over exploitation of resources, and climate </a:t>
            </a:r>
            <a:r>
              <a:rPr lang="en-US" dirty="0" smtClean="0"/>
              <a:t>change. </a:t>
            </a:r>
            <a:r>
              <a:rPr lang="en-US" dirty="0"/>
              <a:t>Fish production and diversity in natural water bodies is extremely sensitive to climatic changes because feeding, migration, breeding, and other biological activities are affected by a complex set of water quality and weather parameters</a:t>
            </a:r>
            <a:r>
              <a:rPr lang="en-US" dirty="0" smtClean="0"/>
              <a:t>.</a:t>
            </a:r>
          </a:p>
          <a:p>
            <a:pPr algn="just"/>
            <a:endParaRPr lang="en-US" dirty="0"/>
          </a:p>
        </p:txBody>
      </p:sp>
    </p:spTree>
    <p:extLst>
      <p:ext uri="{BB962C8B-B14F-4D97-AF65-F5344CB8AC3E}">
        <p14:creationId xmlns:p14="http://schemas.microsoft.com/office/powerpoint/2010/main" val="1810996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304800"/>
            <a:ext cx="7772400" cy="1470025"/>
          </a:xfrm>
        </p:spPr>
        <p:txBody>
          <a:bodyPr>
            <a:normAutofit fontScale="90000"/>
          </a:bodyPr>
          <a:lstStyle/>
          <a:p>
            <a:r>
              <a:rPr lang="en-US" b="1" dirty="0" smtClean="0">
                <a:solidFill>
                  <a:srgbClr val="C00000"/>
                </a:solidFill>
              </a:rPr>
              <a:t>Threats to Freshwater Fishes</a:t>
            </a:r>
            <a:br>
              <a:rPr lang="en-US" b="1" dirty="0" smtClean="0">
                <a:solidFill>
                  <a:srgbClr val="C00000"/>
                </a:solidFill>
              </a:rPr>
            </a:br>
            <a:r>
              <a:rPr lang="en-US" b="1" dirty="0" smtClean="0">
                <a:solidFill>
                  <a:srgbClr val="C00000"/>
                </a:solidFill>
              </a:rPr>
              <a:t>in Bangladesh</a:t>
            </a:r>
            <a:r>
              <a:rPr lang="en-US" dirty="0" smtClean="0"/>
              <a:t/>
            </a:r>
            <a:br>
              <a:rPr lang="en-US" dirty="0" smtClean="0"/>
            </a:br>
            <a:endParaRPr lang="en-US" dirty="0"/>
          </a:p>
        </p:txBody>
      </p:sp>
      <p:sp>
        <p:nvSpPr>
          <p:cNvPr id="3" name="Subtitle 2"/>
          <p:cNvSpPr>
            <a:spLocks noGrp="1"/>
          </p:cNvSpPr>
          <p:nvPr>
            <p:ph type="subTitle" idx="1"/>
          </p:nvPr>
        </p:nvSpPr>
        <p:spPr>
          <a:xfrm>
            <a:off x="304800" y="1524000"/>
            <a:ext cx="8686800" cy="5486400"/>
          </a:xfrm>
        </p:spPr>
        <p:txBody>
          <a:bodyPr>
            <a:normAutofit lnSpcReduction="10000"/>
          </a:bodyPr>
          <a:lstStyle/>
          <a:p>
            <a:pPr algn="just"/>
            <a:r>
              <a:rPr lang="en-US" b="1" dirty="0" smtClean="0">
                <a:solidFill>
                  <a:srgbClr val="C00000"/>
                </a:solidFill>
              </a:rPr>
              <a:t> Habitat Loss: </a:t>
            </a:r>
          </a:p>
          <a:p>
            <a:pPr algn="l"/>
            <a:r>
              <a:rPr lang="en-US" dirty="0">
                <a:solidFill>
                  <a:schemeClr val="tx1"/>
                </a:solidFill>
              </a:rPr>
              <a:t>-</a:t>
            </a:r>
            <a:r>
              <a:rPr lang="en-US" dirty="0">
                <a:solidFill>
                  <a:schemeClr val="tx1"/>
                </a:solidFill>
                <a:cs typeface="Arial" pitchFamily="34" charset="0"/>
              </a:rPr>
              <a:t>caused </a:t>
            </a:r>
            <a:r>
              <a:rPr lang="en-US" dirty="0" smtClean="0">
                <a:solidFill>
                  <a:schemeClr val="tx1"/>
                </a:solidFill>
                <a:cs typeface="Arial" pitchFamily="34" charset="0"/>
              </a:rPr>
              <a:t>due to massive siltation for the erosion in the Himalayan areas; </a:t>
            </a:r>
          </a:p>
          <a:p>
            <a:pPr algn="just"/>
            <a:r>
              <a:rPr lang="en-US" dirty="0" smtClean="0">
                <a:solidFill>
                  <a:schemeClr val="tx1"/>
                </a:solidFill>
                <a:cs typeface="Arial" pitchFamily="34" charset="0"/>
              </a:rPr>
              <a:t>-conversion of wetlands to agricultural lands; </a:t>
            </a:r>
          </a:p>
          <a:p>
            <a:pPr algn="just"/>
            <a:r>
              <a:rPr lang="en-US" dirty="0" smtClean="0">
                <a:solidFill>
                  <a:schemeClr val="tx1"/>
                </a:solidFill>
                <a:cs typeface="Arial" pitchFamily="34" charset="0"/>
              </a:rPr>
              <a:t>-development interventions, like implementation of flood control projects, constructions of roads, </a:t>
            </a:r>
            <a:r>
              <a:rPr lang="en-US" dirty="0">
                <a:solidFill>
                  <a:schemeClr val="tx1"/>
                </a:solidFill>
                <a:cs typeface="Arial" pitchFamily="34" charset="0"/>
              </a:rPr>
              <a:t>expansion of human </a:t>
            </a:r>
            <a:r>
              <a:rPr lang="en-US" dirty="0" smtClean="0">
                <a:solidFill>
                  <a:schemeClr val="tx1"/>
                </a:solidFill>
                <a:cs typeface="Arial" pitchFamily="34" charset="0"/>
              </a:rPr>
              <a:t>settlements, townships </a:t>
            </a:r>
          </a:p>
          <a:p>
            <a:pPr algn="just"/>
            <a:r>
              <a:rPr lang="en-US" dirty="0">
                <a:solidFill>
                  <a:schemeClr val="tx1"/>
                </a:solidFill>
                <a:cs typeface="Arial" pitchFamily="34" charset="0"/>
              </a:rPr>
              <a:t>-</a:t>
            </a:r>
            <a:r>
              <a:rPr lang="en-US" dirty="0" smtClean="0">
                <a:solidFill>
                  <a:schemeClr val="tx1"/>
                </a:solidFill>
                <a:cs typeface="Arial" pitchFamily="34" charset="0"/>
              </a:rPr>
              <a:t>construction of </a:t>
            </a:r>
            <a:r>
              <a:rPr lang="en-US" dirty="0">
                <a:solidFill>
                  <a:schemeClr val="tx1"/>
                </a:solidFill>
                <a:cs typeface="Arial" pitchFamily="34" charset="0"/>
              </a:rPr>
              <a:t>embankments for the purpose of protection </a:t>
            </a:r>
            <a:r>
              <a:rPr lang="en-US" dirty="0" smtClean="0">
                <a:solidFill>
                  <a:schemeClr val="tx1"/>
                </a:solidFill>
                <a:cs typeface="Arial" pitchFamily="34" charset="0"/>
              </a:rPr>
              <a:t>from </a:t>
            </a:r>
            <a:r>
              <a:rPr lang="en-US" dirty="0">
                <a:solidFill>
                  <a:schemeClr val="tx1"/>
                </a:solidFill>
                <a:cs typeface="Arial" pitchFamily="34" charset="0"/>
              </a:rPr>
              <a:t>tidal inundation and flood control and </a:t>
            </a:r>
            <a:r>
              <a:rPr lang="en-US" dirty="0" smtClean="0">
                <a:solidFill>
                  <a:schemeClr val="tx1"/>
                </a:solidFill>
                <a:cs typeface="Arial" pitchFamily="34" charset="0"/>
              </a:rPr>
              <a:t>irrigation and other developmental infrastructures.</a:t>
            </a:r>
            <a:endParaRPr lang="en-US" dirty="0">
              <a:solidFill>
                <a:schemeClr val="tx1"/>
              </a:solidFill>
              <a:cs typeface="Arial" pitchFamily="34" charset="0"/>
            </a:endParaRPr>
          </a:p>
        </p:txBody>
      </p:sp>
    </p:spTree>
    <p:extLst>
      <p:ext uri="{BB962C8B-B14F-4D97-AF65-F5344CB8AC3E}">
        <p14:creationId xmlns:p14="http://schemas.microsoft.com/office/powerpoint/2010/main" val="2886244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933122" y="457200"/>
            <a:ext cx="7677478" cy="5668963"/>
          </a:xfrm>
          <a:prstGeom prst="rect">
            <a:avLst/>
          </a:prstGeom>
          <a:noFill/>
          <a:ln w="9525">
            <a:noFill/>
            <a:miter lim="800000"/>
            <a:headEnd/>
            <a:tailEnd/>
          </a:ln>
        </p:spPr>
      </p:pic>
      <p:sp>
        <p:nvSpPr>
          <p:cNvPr id="5" name="Rectangle 4"/>
          <p:cNvSpPr/>
          <p:nvPr/>
        </p:nvSpPr>
        <p:spPr>
          <a:xfrm>
            <a:off x="914400" y="6096000"/>
            <a:ext cx="8229600" cy="523220"/>
          </a:xfrm>
          <a:prstGeom prst="rect">
            <a:avLst/>
          </a:prstGeom>
        </p:spPr>
        <p:txBody>
          <a:bodyPr wrap="square">
            <a:spAutoFit/>
          </a:bodyPr>
          <a:lstStyle/>
          <a:p>
            <a:r>
              <a:rPr lang="en-US" sz="2800" dirty="0" smtClean="0"/>
              <a:t>Present state of </a:t>
            </a:r>
            <a:r>
              <a:rPr lang="en-US" sz="2800" dirty="0" err="1" smtClean="0"/>
              <a:t>Kapotakhya</a:t>
            </a:r>
            <a:r>
              <a:rPr lang="en-US" sz="2800" dirty="0" smtClean="0"/>
              <a:t> River in Bangladesh</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a:bodyPr>
          <a:lstStyle/>
          <a:p>
            <a:pPr>
              <a:buNone/>
            </a:pPr>
            <a:endParaRPr lang="en-US" b="1" dirty="0" smtClean="0">
              <a:solidFill>
                <a:srgbClr val="C00000"/>
              </a:solidFill>
            </a:endParaRPr>
          </a:p>
          <a:p>
            <a:pPr>
              <a:buNone/>
            </a:pPr>
            <a:r>
              <a:rPr lang="en-US" b="1" dirty="0" smtClean="0">
                <a:solidFill>
                  <a:srgbClr val="FF0000"/>
                </a:solidFill>
              </a:rPr>
              <a:t> </a:t>
            </a:r>
            <a:r>
              <a:rPr lang="en-US" b="1" dirty="0" smtClean="0">
                <a:solidFill>
                  <a:schemeClr val="accent6">
                    <a:lumMod val="75000"/>
                  </a:schemeClr>
                </a:solidFill>
              </a:rPr>
              <a:t>Over and Unplanned Exploitation:</a:t>
            </a:r>
          </a:p>
          <a:p>
            <a:pPr algn="just">
              <a:buFont typeface="Wingdings" pitchFamily="2" charset="2"/>
              <a:buChar char="§"/>
            </a:pPr>
            <a:r>
              <a:rPr lang="en-US" dirty="0" smtClean="0"/>
              <a:t>-High </a:t>
            </a:r>
            <a:r>
              <a:rPr lang="en-US" dirty="0"/>
              <a:t>demand and high price of fishes, coupled with country’s high unemployment situation resulted in putting increased efforts in fishing </a:t>
            </a:r>
            <a:r>
              <a:rPr lang="en-US" dirty="0" smtClean="0"/>
              <a:t>lead </a:t>
            </a:r>
            <a:r>
              <a:rPr lang="en-US" dirty="0"/>
              <a:t>to </a:t>
            </a:r>
            <a:r>
              <a:rPr lang="en-US" dirty="0" smtClean="0"/>
              <a:t>over-exploitation.</a:t>
            </a:r>
          </a:p>
          <a:p>
            <a:pPr algn="just">
              <a:buFont typeface="Wingdings" pitchFamily="2" charset="2"/>
              <a:buChar char="§"/>
            </a:pPr>
            <a:r>
              <a:rPr lang="en-US" dirty="0"/>
              <a:t>A</a:t>
            </a:r>
            <a:r>
              <a:rPr lang="en-US" dirty="0" smtClean="0"/>
              <a:t>doption </a:t>
            </a:r>
            <a:r>
              <a:rPr lang="en-US" dirty="0"/>
              <a:t>of destructive fishing methods, practices, like use of small mesh size nets and monofilament gill nets, poisoning, dewatering of water bodies, </a:t>
            </a:r>
            <a:r>
              <a:rPr lang="en-US" dirty="0" smtClean="0"/>
              <a:t>etc. also cause fish decline.</a:t>
            </a:r>
            <a:endParaRPr lang="en-US" b="1" dirty="0" smtClean="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754563"/>
          </a:xfrm>
        </p:spPr>
        <p:txBody>
          <a:bodyPr>
            <a:noAutofit/>
          </a:bodyPr>
          <a:lstStyle/>
          <a:p>
            <a:pPr marL="0" indent="0">
              <a:buNone/>
            </a:pPr>
            <a:r>
              <a:rPr lang="en-US" sz="2400" b="1" dirty="0" smtClean="0">
                <a:solidFill>
                  <a:srgbClr val="FF0000"/>
                </a:solidFill>
                <a:latin typeface="+mj-lt"/>
              </a:rPr>
              <a:t>Aquatic </a:t>
            </a:r>
            <a:r>
              <a:rPr lang="en-US" sz="2400" b="1" dirty="0">
                <a:solidFill>
                  <a:srgbClr val="FF0000"/>
                </a:solidFill>
                <a:latin typeface="+mj-lt"/>
              </a:rPr>
              <a:t>Pollution</a:t>
            </a:r>
          </a:p>
          <a:p>
            <a:pPr>
              <a:buFont typeface="Wingdings" pitchFamily="2" charset="2"/>
              <a:buChar char="§"/>
            </a:pPr>
            <a:r>
              <a:rPr lang="en-US" sz="2400" dirty="0">
                <a:latin typeface="+mj-lt"/>
              </a:rPr>
              <a:t>Use of pesticides and fertilizers</a:t>
            </a:r>
          </a:p>
          <a:p>
            <a:pPr>
              <a:buFont typeface="Wingdings" pitchFamily="2" charset="2"/>
              <a:buChar char="§"/>
            </a:pPr>
            <a:r>
              <a:rPr lang="en-US" sz="2400" dirty="0">
                <a:latin typeface="+mj-lt"/>
              </a:rPr>
              <a:t>Discharges from industries and </a:t>
            </a:r>
            <a:r>
              <a:rPr lang="en-US" sz="2400" dirty="0" smtClean="0">
                <a:latin typeface="+mj-lt"/>
              </a:rPr>
              <a:t>municipal sewerage</a:t>
            </a:r>
            <a:r>
              <a:rPr lang="en-US" sz="2400" dirty="0">
                <a:latin typeface="+mj-lt"/>
              </a:rPr>
              <a:t>: The most polluted rivers in Bangladesh include the </a:t>
            </a:r>
            <a:r>
              <a:rPr lang="en-US" sz="2400" dirty="0" err="1">
                <a:latin typeface="+mj-lt"/>
              </a:rPr>
              <a:t>Buriganga</a:t>
            </a:r>
            <a:r>
              <a:rPr lang="en-US" sz="2400" dirty="0">
                <a:latin typeface="+mj-lt"/>
              </a:rPr>
              <a:t>, </a:t>
            </a:r>
            <a:r>
              <a:rPr lang="en-US" sz="2400" dirty="0" err="1">
                <a:latin typeface="+mj-lt"/>
              </a:rPr>
              <a:t>Turag</a:t>
            </a:r>
            <a:r>
              <a:rPr lang="en-US" sz="2400" dirty="0">
                <a:latin typeface="+mj-lt"/>
              </a:rPr>
              <a:t>, </a:t>
            </a:r>
            <a:r>
              <a:rPr lang="en-US" sz="2400" dirty="0" err="1">
                <a:latin typeface="+mj-lt"/>
              </a:rPr>
              <a:t>Shitalakkha</a:t>
            </a:r>
            <a:r>
              <a:rPr lang="en-US" sz="2400" dirty="0">
                <a:latin typeface="+mj-lt"/>
              </a:rPr>
              <a:t>, </a:t>
            </a:r>
            <a:r>
              <a:rPr lang="en-US" sz="2400" dirty="0" err="1">
                <a:latin typeface="+mj-lt"/>
              </a:rPr>
              <a:t>Balu</a:t>
            </a:r>
            <a:r>
              <a:rPr lang="en-US" sz="2400" dirty="0">
                <a:latin typeface="+mj-lt"/>
              </a:rPr>
              <a:t>, </a:t>
            </a:r>
            <a:r>
              <a:rPr lang="en-US" sz="2400" dirty="0" err="1">
                <a:latin typeface="+mj-lt"/>
              </a:rPr>
              <a:t>Meghna</a:t>
            </a:r>
            <a:r>
              <a:rPr lang="en-US" sz="2400" dirty="0">
                <a:latin typeface="+mj-lt"/>
              </a:rPr>
              <a:t>, </a:t>
            </a:r>
            <a:r>
              <a:rPr lang="en-US" sz="2400" dirty="0" err="1">
                <a:latin typeface="+mj-lt"/>
              </a:rPr>
              <a:t>Karnaphuli</a:t>
            </a:r>
            <a:r>
              <a:rPr lang="en-US" sz="2400" dirty="0">
                <a:latin typeface="+mj-lt"/>
              </a:rPr>
              <a:t>, </a:t>
            </a:r>
            <a:r>
              <a:rPr lang="en-US" sz="2400" dirty="0" err="1">
                <a:latin typeface="+mj-lt"/>
              </a:rPr>
              <a:t>Surma</a:t>
            </a:r>
            <a:r>
              <a:rPr lang="en-US" sz="2400" dirty="0">
                <a:latin typeface="+mj-lt"/>
              </a:rPr>
              <a:t>, </a:t>
            </a:r>
            <a:r>
              <a:rPr lang="en-US" sz="2400" dirty="0" err="1">
                <a:latin typeface="+mj-lt"/>
              </a:rPr>
              <a:t>Dhaleswari</a:t>
            </a:r>
            <a:r>
              <a:rPr lang="en-US" sz="2400" dirty="0">
                <a:latin typeface="+mj-lt"/>
              </a:rPr>
              <a:t>, etc.</a:t>
            </a:r>
          </a:p>
          <a:p>
            <a:pPr algn="just">
              <a:buFont typeface="Wingdings" pitchFamily="2" charset="2"/>
              <a:buChar char="§"/>
            </a:pPr>
            <a:r>
              <a:rPr lang="en-US" sz="2400" dirty="0" smtClean="0">
                <a:latin typeface="+mj-lt"/>
                <a:cs typeface="Arial" pitchFamily="34" charset="0"/>
              </a:rPr>
              <a:t>It </a:t>
            </a:r>
            <a:r>
              <a:rPr lang="en-US" sz="2400" dirty="0">
                <a:latin typeface="+mj-lt"/>
                <a:cs typeface="Arial" pitchFamily="34" charset="0"/>
              </a:rPr>
              <a:t>is observed that a number of drains have fallen into the river from both the banks. As a result various chemical wastages from agro-industrial sources fall through the drainage and sewerage systems and polluted the water quality consequently destroying the spawning, nursing and grazing grounds of fish species. </a:t>
            </a:r>
          </a:p>
          <a:p>
            <a:pPr algn="just">
              <a:buFont typeface="Wingdings" pitchFamily="2" charset="2"/>
              <a:buChar char="§"/>
            </a:pPr>
            <a:endParaRPr lang="en-US" sz="2400" dirty="0">
              <a:latin typeface="+mj-lt"/>
              <a:cs typeface="Arial" pitchFamily="34" charset="0"/>
            </a:endParaRPr>
          </a:p>
          <a:p>
            <a:pPr algn="just">
              <a:buFont typeface="Wingdings" pitchFamily="2" charset="2"/>
              <a:buChar char="§"/>
            </a:pPr>
            <a:endParaRPr lang="en-US" sz="2400" dirty="0">
              <a:latin typeface="+mj-lt"/>
            </a:endParaRPr>
          </a:p>
          <a:p>
            <a:pPr>
              <a:buFont typeface="Wingdings" pitchFamily="2" charset="2"/>
              <a:buChar char="§"/>
            </a:pPr>
            <a:endParaRPr lang="en-US" sz="2400" dirty="0">
              <a:latin typeface="+mj-lt"/>
            </a:endParaRPr>
          </a:p>
        </p:txBody>
      </p:sp>
    </p:spTree>
    <p:extLst>
      <p:ext uri="{BB962C8B-B14F-4D97-AF65-F5344CB8AC3E}">
        <p14:creationId xmlns:p14="http://schemas.microsoft.com/office/powerpoint/2010/main" val="461018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Untreated industrial effluents and municipal discharge</a:t>
            </a:r>
            <a:endParaRPr lang="en-US" dirty="0"/>
          </a:p>
        </p:txBody>
      </p:sp>
      <p:pic>
        <p:nvPicPr>
          <p:cNvPr id="4" name="Content Placeholder 3"/>
          <p:cNvPicPr>
            <a:picLocks noGrp="1"/>
          </p:cNvPicPr>
          <p:nvPr>
            <p:ph idx="1"/>
          </p:nvPr>
        </p:nvPicPr>
        <p:blipFill>
          <a:blip r:embed="rId2"/>
          <a:srcRect/>
          <a:stretch>
            <a:fillRect/>
          </a:stretch>
        </p:blipFill>
        <p:spPr bwMode="auto">
          <a:xfrm>
            <a:off x="1316796" y="1600200"/>
            <a:ext cx="6510407" cy="4525963"/>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745163"/>
          </a:xfrm>
        </p:spPr>
        <p:txBody>
          <a:bodyPr>
            <a:normAutofit fontScale="92500" lnSpcReduction="20000"/>
          </a:bodyPr>
          <a:lstStyle/>
          <a:p>
            <a:pPr algn="just">
              <a:buNone/>
            </a:pPr>
            <a:r>
              <a:rPr lang="en-US" b="1" dirty="0" smtClean="0">
                <a:solidFill>
                  <a:srgbClr val="FF0000"/>
                </a:solidFill>
              </a:rPr>
              <a:t>Introduction of Exotic Fish:</a:t>
            </a:r>
          </a:p>
          <a:p>
            <a:pPr algn="just"/>
            <a:r>
              <a:rPr lang="en-US" dirty="0" smtClean="0"/>
              <a:t>24 exotic fishes </a:t>
            </a:r>
            <a:r>
              <a:rPr lang="en-US" dirty="0"/>
              <a:t>introduced in </a:t>
            </a:r>
            <a:r>
              <a:rPr lang="en-US" dirty="0" smtClean="0"/>
              <a:t>Bangladesh</a:t>
            </a:r>
          </a:p>
          <a:p>
            <a:pPr algn="just"/>
            <a:r>
              <a:rPr lang="en-US" dirty="0"/>
              <a:t>I</a:t>
            </a:r>
            <a:r>
              <a:rPr lang="en-US" dirty="0" smtClean="0"/>
              <a:t>ntroduced </a:t>
            </a:r>
            <a:r>
              <a:rPr lang="en-US" dirty="0"/>
              <a:t>or escaped fish may become established in natural </a:t>
            </a:r>
            <a:r>
              <a:rPr lang="en-US" dirty="0" smtClean="0"/>
              <a:t>ecosystems </a:t>
            </a:r>
            <a:r>
              <a:rPr lang="en-US" dirty="0"/>
              <a:t>or habitats as an invasive alien species and thus could be an agent of ecological catastrophe</a:t>
            </a:r>
            <a:r>
              <a:rPr lang="en-US" dirty="0" smtClean="0"/>
              <a:t>.</a:t>
            </a:r>
          </a:p>
          <a:p>
            <a:pPr algn="just"/>
            <a:r>
              <a:rPr lang="en-US" dirty="0" smtClean="0">
                <a:solidFill>
                  <a:srgbClr val="7030A0"/>
                </a:solidFill>
              </a:rPr>
              <a:t>Risks of the exotic fishes: </a:t>
            </a:r>
          </a:p>
          <a:p>
            <a:pPr marL="0" indent="0" algn="just">
              <a:buNone/>
            </a:pPr>
            <a:r>
              <a:rPr lang="en-US" dirty="0" smtClean="0">
                <a:solidFill>
                  <a:srgbClr val="7030A0"/>
                </a:solidFill>
              </a:rPr>
              <a:t>   -</a:t>
            </a:r>
            <a:r>
              <a:rPr lang="en-US" dirty="0" smtClean="0"/>
              <a:t>Causes the loss of indigenous biodiversity.</a:t>
            </a:r>
            <a:endParaRPr lang="en-US" dirty="0" smtClean="0">
              <a:solidFill>
                <a:srgbClr val="7030A0"/>
              </a:solidFill>
            </a:endParaRPr>
          </a:p>
          <a:p>
            <a:pPr algn="just">
              <a:buNone/>
            </a:pPr>
            <a:r>
              <a:rPr lang="en-US" dirty="0" smtClean="0"/>
              <a:t>    -predation by the exotic species, </a:t>
            </a:r>
          </a:p>
          <a:p>
            <a:pPr algn="just">
              <a:buNone/>
            </a:pPr>
            <a:r>
              <a:rPr lang="en-US" dirty="0" smtClean="0"/>
              <a:t>     -changes and disruption in food chain,    </a:t>
            </a:r>
          </a:p>
          <a:p>
            <a:pPr algn="just">
              <a:buNone/>
            </a:pPr>
            <a:r>
              <a:rPr lang="en-US" dirty="0" smtClean="0"/>
              <a:t>     -transmission of diseases,</a:t>
            </a:r>
          </a:p>
          <a:p>
            <a:pPr algn="just">
              <a:buNone/>
            </a:pPr>
            <a:r>
              <a:rPr lang="en-US" dirty="0" smtClean="0"/>
              <a:t>     -competition for food and shelter etc</a:t>
            </a:r>
            <a:endParaRPr lang="en-US" b="1"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solidFill>
                  <a:schemeClr val="accent6">
                    <a:lumMod val="75000"/>
                  </a:schemeClr>
                </a:solidFill>
              </a:rPr>
              <a:t>Impact of Climate Change on Freshwater Fishes</a:t>
            </a:r>
            <a:endParaRPr lang="en-US" sz="3200" b="1" dirty="0">
              <a:solidFill>
                <a:schemeClr val="accent6">
                  <a:lumMod val="75000"/>
                </a:schemeClr>
              </a:solidFill>
            </a:endParaRPr>
          </a:p>
        </p:txBody>
      </p:sp>
      <p:sp>
        <p:nvSpPr>
          <p:cNvPr id="3" name="Content Placeholder 2"/>
          <p:cNvSpPr>
            <a:spLocks noGrp="1"/>
          </p:cNvSpPr>
          <p:nvPr>
            <p:ph idx="1"/>
          </p:nvPr>
        </p:nvSpPr>
        <p:spPr/>
        <p:txBody>
          <a:bodyPr>
            <a:normAutofit fontScale="92500" lnSpcReduction="20000"/>
          </a:bodyPr>
          <a:lstStyle/>
          <a:p>
            <a:pPr algn="just"/>
            <a:r>
              <a:rPr lang="en-US" dirty="0"/>
              <a:t>Floods or exceptionally large seasonal pulses and droughts or prolonged dry spells can cause population declines, reduced abundance and altered species </a:t>
            </a:r>
            <a:r>
              <a:rPr lang="en-US" dirty="0" smtClean="0"/>
              <a:t>composition.</a:t>
            </a:r>
          </a:p>
          <a:p>
            <a:pPr algn="just"/>
            <a:r>
              <a:rPr lang="en-US" dirty="0"/>
              <a:t>Erratic rainfall was discovered to be a primary climatic component that was linked to a reduction in fish species </a:t>
            </a:r>
            <a:r>
              <a:rPr lang="en-US" dirty="0" smtClean="0"/>
              <a:t>diversity.</a:t>
            </a:r>
            <a:endParaRPr lang="en-US" dirty="0"/>
          </a:p>
          <a:p>
            <a:pPr algn="just"/>
            <a:r>
              <a:rPr lang="en-US" dirty="0"/>
              <a:t>Small increases </a:t>
            </a:r>
            <a:r>
              <a:rPr lang="en-US" dirty="0" smtClean="0"/>
              <a:t>in </a:t>
            </a:r>
            <a:r>
              <a:rPr lang="en-US" dirty="0"/>
              <a:t>temperature may be sufficient to have sub lethal effects on tropical fish physiology and </a:t>
            </a:r>
            <a:r>
              <a:rPr lang="en-US" dirty="0" smtClean="0"/>
              <a:t>reproduction.</a:t>
            </a:r>
          </a:p>
          <a:p>
            <a:pPr algn="just"/>
            <a:r>
              <a:rPr lang="en-US" dirty="0"/>
              <a:t>S</a:t>
            </a:r>
            <a:r>
              <a:rPr lang="en-US" dirty="0" smtClean="0"/>
              <a:t>alinity intrusion in inland water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LECTURE\Fish Management &amp; Consrvtn\Figures\20201020_001644.jpg"/>
          <p:cNvPicPr>
            <a:picLocks noGrp="1"/>
          </p:cNvPicPr>
          <p:nvPr>
            <p:ph idx="1"/>
          </p:nvPr>
        </p:nvPicPr>
        <p:blipFill>
          <a:blip r:embed="rId2" cstate="print"/>
          <a:srcRect/>
          <a:stretch>
            <a:fillRect/>
          </a:stretch>
        </p:blipFill>
        <p:spPr bwMode="auto">
          <a:xfrm rot="10800000">
            <a:off x="380998" y="533399"/>
            <a:ext cx="8153399" cy="6324599"/>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906963"/>
          </a:xfrm>
        </p:spPr>
        <p:txBody>
          <a:bodyPr>
            <a:noAutofit/>
          </a:bodyPr>
          <a:lstStyle/>
          <a:p>
            <a:pPr algn="just"/>
            <a:r>
              <a:rPr lang="en-US" sz="2000" b="1" dirty="0">
                <a:solidFill>
                  <a:schemeClr val="accent6">
                    <a:lumMod val="75000"/>
                  </a:schemeClr>
                </a:solidFill>
                <a:latin typeface="Arial" pitchFamily="34" charset="0"/>
                <a:cs typeface="Arial" pitchFamily="34" charset="0"/>
              </a:rPr>
              <a:t>Change of natural habitats  </a:t>
            </a:r>
          </a:p>
          <a:p>
            <a:pPr algn="just"/>
            <a:r>
              <a:rPr lang="en-US" sz="2000" dirty="0">
                <a:latin typeface="Arial" pitchFamily="34" charset="0"/>
                <a:cs typeface="Arial" pitchFamily="34" charset="0"/>
              </a:rPr>
              <a:t>Due to natural causes like shrinkage of genetic base and manmade causes like water pollution through  industrial wastage, sewerage wastage, agricultural wastage, destroyed the spawning, nursing and grazing grounds of fish species of the river</a:t>
            </a:r>
            <a:r>
              <a:rPr lang="en-US" sz="2000" dirty="0" smtClean="0">
                <a:latin typeface="Arial" pitchFamily="34" charset="0"/>
                <a:cs typeface="Arial" pitchFamily="34" charset="0"/>
              </a:rPr>
              <a:t>.</a:t>
            </a:r>
            <a:endParaRPr lang="en-US" sz="2000" b="1" dirty="0" smtClean="0">
              <a:latin typeface="Arial" pitchFamily="34" charset="0"/>
              <a:cs typeface="Arial" pitchFamily="34" charset="0"/>
            </a:endParaRPr>
          </a:p>
          <a:p>
            <a:pPr algn="just"/>
            <a:r>
              <a:rPr lang="en-US" sz="2000" b="1" dirty="0" smtClean="0">
                <a:solidFill>
                  <a:schemeClr val="accent6">
                    <a:lumMod val="75000"/>
                  </a:schemeClr>
                </a:solidFill>
                <a:latin typeface="Arial" pitchFamily="34" charset="0"/>
                <a:cs typeface="Arial" pitchFamily="34" charset="0"/>
              </a:rPr>
              <a:t>Construction </a:t>
            </a:r>
            <a:r>
              <a:rPr lang="en-US" sz="2000" b="1" dirty="0">
                <a:solidFill>
                  <a:schemeClr val="accent6">
                    <a:lumMod val="75000"/>
                  </a:schemeClr>
                </a:solidFill>
                <a:latin typeface="Arial" pitchFamily="34" charset="0"/>
                <a:cs typeface="Arial" pitchFamily="34" charset="0"/>
              </a:rPr>
              <a:t>of </a:t>
            </a:r>
            <a:r>
              <a:rPr lang="en-US" sz="2000" b="1" dirty="0" smtClean="0">
                <a:solidFill>
                  <a:schemeClr val="accent6">
                    <a:lumMod val="75000"/>
                  </a:schemeClr>
                </a:solidFill>
                <a:latin typeface="Arial" pitchFamily="34" charset="0"/>
                <a:cs typeface="Arial" pitchFamily="34" charset="0"/>
              </a:rPr>
              <a:t>Barrage </a:t>
            </a:r>
            <a:r>
              <a:rPr lang="en-US" sz="2000" b="1" dirty="0">
                <a:solidFill>
                  <a:schemeClr val="accent6">
                    <a:lumMod val="75000"/>
                  </a:schemeClr>
                </a:solidFill>
                <a:latin typeface="Arial" pitchFamily="34" charset="0"/>
                <a:cs typeface="Arial" pitchFamily="34" charset="0"/>
              </a:rPr>
              <a:t>and water diversion </a:t>
            </a:r>
            <a:endParaRPr lang="en-US" sz="2000" b="1" dirty="0" smtClean="0">
              <a:solidFill>
                <a:schemeClr val="accent6">
                  <a:lumMod val="75000"/>
                </a:schemeClr>
              </a:solidFill>
              <a:latin typeface="Arial" pitchFamily="34" charset="0"/>
              <a:cs typeface="Arial" pitchFamily="34" charset="0"/>
            </a:endParaRPr>
          </a:p>
          <a:p>
            <a:pPr algn="just"/>
            <a:r>
              <a:rPr lang="en-US" sz="2000" dirty="0" smtClean="0">
                <a:latin typeface="Arial" pitchFamily="34" charset="0"/>
                <a:cs typeface="Arial" pitchFamily="34" charset="0"/>
              </a:rPr>
              <a:t>Construction </a:t>
            </a:r>
            <a:r>
              <a:rPr lang="en-US" sz="2000" dirty="0">
                <a:latin typeface="Arial" pitchFamily="34" charset="0"/>
                <a:cs typeface="Arial" pitchFamily="34" charset="0"/>
              </a:rPr>
              <a:t>of the </a:t>
            </a:r>
            <a:r>
              <a:rPr lang="en-US" sz="2000" dirty="0" smtClean="0">
                <a:latin typeface="Arial" pitchFamily="34" charset="0"/>
                <a:cs typeface="Arial" pitchFamily="34" charset="0"/>
              </a:rPr>
              <a:t>Barrage and </a:t>
            </a:r>
            <a:r>
              <a:rPr lang="en-US" sz="2000" dirty="0">
                <a:latin typeface="Arial" pitchFamily="34" charset="0"/>
                <a:cs typeface="Arial" pitchFamily="34" charset="0"/>
              </a:rPr>
              <a:t>diversion canal at the upstream caused major detrimental catastrophe for the ecosystem of the </a:t>
            </a:r>
            <a:r>
              <a:rPr lang="en-US" sz="2000" dirty="0" smtClean="0">
                <a:latin typeface="Arial" pitchFamily="34" charset="0"/>
                <a:cs typeface="Arial" pitchFamily="34" charset="0"/>
              </a:rPr>
              <a:t>river. </a:t>
            </a:r>
            <a:r>
              <a:rPr lang="en-US" sz="2000" dirty="0">
                <a:latin typeface="Arial" pitchFamily="34" charset="0"/>
                <a:cs typeface="Arial" pitchFamily="34" charset="0"/>
              </a:rPr>
              <a:t>The migratory route of </a:t>
            </a:r>
            <a:r>
              <a:rPr lang="en-US" sz="2000" dirty="0" smtClean="0">
                <a:latin typeface="Arial" pitchFamily="34" charset="0"/>
                <a:cs typeface="Arial" pitchFamily="34" charset="0"/>
              </a:rPr>
              <a:t>different fishes </a:t>
            </a:r>
            <a:r>
              <a:rPr lang="en-US" sz="2000" dirty="0">
                <a:latin typeface="Arial" pitchFamily="34" charset="0"/>
                <a:cs typeface="Arial" pitchFamily="34" charset="0"/>
              </a:rPr>
              <a:t>has largely been affected for this reason. </a:t>
            </a:r>
            <a:endParaRPr lang="en-US" sz="2000" dirty="0" smtClean="0">
              <a:latin typeface="Arial" pitchFamily="34" charset="0"/>
              <a:cs typeface="Arial" pitchFamily="34" charset="0"/>
            </a:endParaRPr>
          </a:p>
          <a:p>
            <a:pPr algn="just"/>
            <a:r>
              <a:rPr lang="en-US" sz="2000" b="1" dirty="0" smtClean="0">
                <a:solidFill>
                  <a:schemeClr val="accent2"/>
                </a:solidFill>
                <a:latin typeface="Arial" pitchFamily="34" charset="0"/>
                <a:cs typeface="Arial" pitchFamily="34" charset="0"/>
              </a:rPr>
              <a:t>Excessive </a:t>
            </a:r>
            <a:r>
              <a:rPr lang="en-US" sz="2000" b="1" dirty="0">
                <a:solidFill>
                  <a:schemeClr val="accent2"/>
                </a:solidFill>
                <a:latin typeface="Arial" pitchFamily="34" charset="0"/>
                <a:cs typeface="Arial" pitchFamily="34" charset="0"/>
              </a:rPr>
              <a:t>use of river water for irrigation purpose </a:t>
            </a:r>
            <a:endParaRPr lang="en-US" sz="2000" b="1" dirty="0" smtClean="0">
              <a:solidFill>
                <a:schemeClr val="accent2"/>
              </a:solidFill>
              <a:latin typeface="Arial" pitchFamily="34" charset="0"/>
              <a:cs typeface="Arial" pitchFamily="34" charset="0"/>
            </a:endParaRPr>
          </a:p>
          <a:p>
            <a:pPr algn="just"/>
            <a:r>
              <a:rPr lang="en-US" sz="2000" dirty="0" smtClean="0">
                <a:latin typeface="Arial" pitchFamily="34" charset="0"/>
                <a:cs typeface="Arial" pitchFamily="34" charset="0"/>
              </a:rPr>
              <a:t>Excessive </a:t>
            </a:r>
            <a:r>
              <a:rPr lang="en-US" sz="2000" dirty="0">
                <a:latin typeface="Arial" pitchFamily="34" charset="0"/>
                <a:cs typeface="Arial" pitchFamily="34" charset="0"/>
              </a:rPr>
              <a:t>use of river water and reclamation of land for agricultural purpose (irrigation) resulted shrinkage of spawning and feeding grounds for fish species. </a:t>
            </a:r>
            <a:endParaRPr lang="en-US" sz="2000" dirty="0" smtClean="0">
              <a:latin typeface="Arial" pitchFamily="34" charset="0"/>
              <a:cs typeface="Arial" pitchFamily="34" charset="0"/>
            </a:endParaRPr>
          </a:p>
        </p:txBody>
      </p:sp>
    </p:spTree>
    <p:extLst>
      <p:ext uri="{BB962C8B-B14F-4D97-AF65-F5344CB8AC3E}">
        <p14:creationId xmlns:p14="http://schemas.microsoft.com/office/powerpoint/2010/main" val="502004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983163"/>
          </a:xfrm>
        </p:spPr>
        <p:txBody>
          <a:bodyPr>
            <a:normAutofit/>
          </a:bodyPr>
          <a:lstStyle/>
          <a:p>
            <a:pPr algn="just"/>
            <a:r>
              <a:rPr lang="en-US" sz="2200" b="1" dirty="0">
                <a:solidFill>
                  <a:schemeClr val="accent3"/>
                </a:solidFill>
                <a:latin typeface="Arial" pitchFamily="34" charset="0"/>
                <a:cs typeface="Arial" pitchFamily="34" charset="0"/>
              </a:rPr>
              <a:t>Siltation due to less water flow </a:t>
            </a:r>
          </a:p>
          <a:p>
            <a:pPr algn="just"/>
            <a:r>
              <a:rPr lang="en-US" sz="2200" dirty="0">
                <a:latin typeface="Arial" pitchFamily="34" charset="0"/>
                <a:cs typeface="Arial" pitchFamily="34" charset="0"/>
              </a:rPr>
              <a:t>Siltation at the upstream of the river was a serious threat that caused reduction of water flow and as a result spawning and nursing grounds of many fishes have been drastically affected in recent years. </a:t>
            </a:r>
          </a:p>
          <a:p>
            <a:pPr algn="just"/>
            <a:r>
              <a:rPr lang="en-US" sz="2200" b="1" dirty="0">
                <a:solidFill>
                  <a:schemeClr val="accent2"/>
                </a:solidFill>
                <a:latin typeface="Arial" pitchFamily="34" charset="0"/>
                <a:cs typeface="Arial" pitchFamily="34" charset="0"/>
              </a:rPr>
              <a:t>Construction of sluice gate </a:t>
            </a:r>
          </a:p>
          <a:p>
            <a:pPr algn="just"/>
            <a:r>
              <a:rPr lang="en-US" sz="2200" dirty="0">
                <a:latin typeface="Arial" pitchFamily="34" charset="0"/>
                <a:cs typeface="Arial" pitchFamily="34" charset="0"/>
              </a:rPr>
              <a:t>These constructions adversely affect on fisheries diversity and livelihood of the adjacent fishermen. </a:t>
            </a:r>
            <a:endParaRPr lang="en-US" sz="2200" dirty="0" smtClean="0">
              <a:latin typeface="Arial" pitchFamily="34" charset="0"/>
              <a:cs typeface="Arial" pitchFamily="34" charset="0"/>
            </a:endParaRPr>
          </a:p>
          <a:p>
            <a:pPr algn="just"/>
            <a:r>
              <a:rPr lang="en-US" sz="2200" dirty="0">
                <a:latin typeface="Arial" pitchFamily="34" charset="0"/>
                <a:cs typeface="Arial" pitchFamily="34" charset="0"/>
              </a:rPr>
              <a:t>The construction of </a:t>
            </a:r>
            <a:r>
              <a:rPr lang="en-US" sz="2200" dirty="0" smtClean="0">
                <a:latin typeface="Arial" pitchFamily="34" charset="0"/>
                <a:cs typeface="Arial" pitchFamily="34" charset="0"/>
              </a:rPr>
              <a:t>sluice </a:t>
            </a:r>
            <a:r>
              <a:rPr lang="en-US" sz="2200" dirty="0">
                <a:latin typeface="Arial" pitchFamily="34" charset="0"/>
                <a:cs typeface="Arial" pitchFamily="34" charset="0"/>
              </a:rPr>
              <a:t>gates causes siltation in the river bed which influences the water flow consequently affecting the entire ecosystem. </a:t>
            </a:r>
          </a:p>
          <a:p>
            <a:pPr algn="just"/>
            <a:endParaRPr lang="en-US" sz="2200" dirty="0">
              <a:latin typeface="Arial" pitchFamily="34" charset="0"/>
              <a:cs typeface="Arial" pitchFamily="34" charset="0"/>
            </a:endParaRPr>
          </a:p>
          <a:p>
            <a:endParaRPr lang="en-US" sz="2200" dirty="0"/>
          </a:p>
        </p:txBody>
      </p:sp>
    </p:spTree>
    <p:extLst>
      <p:ext uri="{BB962C8B-B14F-4D97-AF65-F5344CB8AC3E}">
        <p14:creationId xmlns:p14="http://schemas.microsoft.com/office/powerpoint/2010/main" val="3890715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458200" cy="4724400"/>
          </a:xfrm>
        </p:spPr>
        <p:txBody>
          <a:bodyPr>
            <a:noAutofit/>
          </a:bodyPr>
          <a:lstStyle/>
          <a:p>
            <a:pPr marL="0" indent="0" algn="just">
              <a:buNone/>
            </a:pPr>
            <a:r>
              <a:rPr lang="en-US" sz="2000" dirty="0">
                <a:latin typeface="Arial" pitchFamily="34" charset="0"/>
                <a:cs typeface="Arial" pitchFamily="34" charset="0"/>
              </a:rPr>
              <a:t>The </a:t>
            </a:r>
            <a:r>
              <a:rPr lang="en-US" sz="2000" dirty="0" smtClean="0">
                <a:latin typeface="Arial" pitchFamily="34" charset="0"/>
                <a:cs typeface="Arial" pitchFamily="34" charset="0"/>
              </a:rPr>
              <a:t>fisheries resources </a:t>
            </a:r>
            <a:r>
              <a:rPr lang="en-US" sz="2000" dirty="0">
                <a:latin typeface="Arial" pitchFamily="34" charset="0"/>
                <a:cs typeface="Arial" pitchFamily="34" charset="0"/>
              </a:rPr>
              <a:t>of Bangladesh is being deteriorated day by day due </a:t>
            </a:r>
            <a:r>
              <a:rPr lang="en-US" sz="2000" dirty="0" smtClean="0">
                <a:latin typeface="Arial" pitchFamily="34" charset="0"/>
                <a:cs typeface="Arial" pitchFamily="34" charset="0"/>
              </a:rPr>
              <a:t>to-</a:t>
            </a:r>
          </a:p>
          <a:p>
            <a:pPr algn="just">
              <a:buFont typeface="Wingdings" pitchFamily="2" charset="2"/>
              <a:buChar char="§"/>
            </a:pPr>
            <a:r>
              <a:rPr lang="en-US" sz="2000" dirty="0" smtClean="0">
                <a:latin typeface="Arial" pitchFamily="34" charset="0"/>
                <a:cs typeface="Arial" pitchFamily="34" charset="0"/>
              </a:rPr>
              <a:t>Over </a:t>
            </a:r>
            <a:r>
              <a:rPr lang="en-US" sz="2000" dirty="0">
                <a:latin typeface="Arial" pitchFamily="34" charset="0"/>
                <a:cs typeface="Arial" pitchFamily="34" charset="0"/>
              </a:rPr>
              <a:t>fishing, </a:t>
            </a:r>
            <a:endParaRPr lang="en-US" sz="2000" dirty="0" smtClean="0">
              <a:latin typeface="Arial" pitchFamily="34" charset="0"/>
              <a:cs typeface="Arial" pitchFamily="34" charset="0"/>
            </a:endParaRPr>
          </a:p>
          <a:p>
            <a:pPr algn="just">
              <a:buFont typeface="Wingdings" pitchFamily="2" charset="2"/>
              <a:buChar char="§"/>
            </a:pPr>
            <a:r>
              <a:rPr lang="en-US" sz="2000" dirty="0" smtClean="0">
                <a:latin typeface="Arial" pitchFamily="34" charset="0"/>
                <a:cs typeface="Arial" pitchFamily="34" charset="0"/>
              </a:rPr>
              <a:t>catching </a:t>
            </a:r>
            <a:r>
              <a:rPr lang="en-US" sz="2000" dirty="0">
                <a:latin typeface="Arial" pitchFamily="34" charset="0"/>
                <a:cs typeface="Arial" pitchFamily="34" charset="0"/>
              </a:rPr>
              <a:t>of juvenile and brood fishes by using illegal fishing gears, </a:t>
            </a:r>
            <a:endParaRPr lang="en-US" sz="2000" dirty="0" smtClean="0">
              <a:latin typeface="Arial" pitchFamily="34" charset="0"/>
              <a:cs typeface="Arial" pitchFamily="34" charset="0"/>
            </a:endParaRPr>
          </a:p>
          <a:p>
            <a:pPr algn="just">
              <a:buFont typeface="Wingdings" pitchFamily="2" charset="2"/>
              <a:buChar char="§"/>
            </a:pPr>
            <a:r>
              <a:rPr lang="en-US" sz="2000" dirty="0" err="1" smtClean="0">
                <a:latin typeface="Arial" pitchFamily="34" charset="0"/>
                <a:cs typeface="Arial" pitchFamily="34" charset="0"/>
              </a:rPr>
              <a:t>katha</a:t>
            </a:r>
            <a:r>
              <a:rPr lang="en-US" sz="2000" dirty="0" smtClean="0">
                <a:latin typeface="Arial" pitchFamily="34" charset="0"/>
                <a:cs typeface="Arial" pitchFamily="34" charset="0"/>
              </a:rPr>
              <a:t> </a:t>
            </a:r>
            <a:r>
              <a:rPr lang="en-US" sz="2000" dirty="0">
                <a:latin typeface="Arial" pitchFamily="34" charset="0"/>
                <a:cs typeface="Arial" pitchFamily="34" charset="0"/>
              </a:rPr>
              <a:t>fishing </a:t>
            </a:r>
            <a:r>
              <a:rPr lang="en-US" sz="2000" dirty="0" smtClean="0">
                <a:latin typeface="Arial" pitchFamily="34" charset="0"/>
                <a:cs typeface="Arial" pitchFamily="34" charset="0"/>
              </a:rPr>
              <a:t>in </a:t>
            </a:r>
            <a:r>
              <a:rPr lang="en-US" sz="2000" dirty="0">
                <a:latin typeface="Arial" pitchFamily="34" charset="0"/>
                <a:cs typeface="Arial" pitchFamily="34" charset="0"/>
              </a:rPr>
              <a:t>water bodies, </a:t>
            </a:r>
            <a:endParaRPr lang="en-US" sz="2000" dirty="0" smtClean="0">
              <a:latin typeface="Arial" pitchFamily="34" charset="0"/>
              <a:cs typeface="Arial" pitchFamily="34" charset="0"/>
            </a:endParaRPr>
          </a:p>
          <a:p>
            <a:pPr algn="just">
              <a:buFont typeface="Wingdings" pitchFamily="2" charset="2"/>
              <a:buChar char="§"/>
            </a:pPr>
            <a:r>
              <a:rPr lang="en-US" sz="2000" dirty="0" smtClean="0">
                <a:latin typeface="Arial" pitchFamily="34" charset="0"/>
                <a:cs typeface="Arial" pitchFamily="34" charset="0"/>
              </a:rPr>
              <a:t>use </a:t>
            </a:r>
            <a:r>
              <a:rPr lang="en-US" sz="2000" dirty="0">
                <a:latin typeface="Arial" pitchFamily="34" charset="0"/>
                <a:cs typeface="Arial" pitchFamily="34" charset="0"/>
              </a:rPr>
              <a:t>of </a:t>
            </a:r>
            <a:r>
              <a:rPr lang="en-US" sz="2000" dirty="0" smtClean="0">
                <a:latin typeface="Arial" pitchFamily="34" charset="0"/>
                <a:cs typeface="Arial" pitchFamily="34" charset="0"/>
              </a:rPr>
              <a:t>illegal/destructive fishing </a:t>
            </a:r>
            <a:r>
              <a:rPr lang="en-US" sz="2000" dirty="0">
                <a:latin typeface="Arial" pitchFamily="34" charset="0"/>
                <a:cs typeface="Arial" pitchFamily="34" charset="0"/>
              </a:rPr>
              <a:t>gears (current </a:t>
            </a:r>
            <a:r>
              <a:rPr lang="en-US" sz="2000" dirty="0" err="1">
                <a:latin typeface="Arial" pitchFamily="34" charset="0"/>
                <a:cs typeface="Arial" pitchFamily="34" charset="0"/>
              </a:rPr>
              <a:t>jal</a:t>
            </a:r>
            <a:r>
              <a:rPr lang="en-US" sz="2000" dirty="0">
                <a:latin typeface="Arial" pitchFamily="34" charset="0"/>
                <a:cs typeface="Arial" pitchFamily="34" charset="0"/>
              </a:rPr>
              <a:t>), </a:t>
            </a:r>
            <a:endParaRPr lang="en-US" sz="2000" dirty="0" smtClean="0">
              <a:latin typeface="Arial" pitchFamily="34" charset="0"/>
              <a:cs typeface="Arial" pitchFamily="34" charset="0"/>
            </a:endParaRPr>
          </a:p>
          <a:p>
            <a:pPr algn="just">
              <a:buFont typeface="Wingdings" pitchFamily="2" charset="2"/>
              <a:buChar char="§"/>
            </a:pPr>
            <a:r>
              <a:rPr lang="en-US" sz="2000" dirty="0" smtClean="0">
                <a:latin typeface="Arial" pitchFamily="34" charset="0"/>
                <a:cs typeface="Arial" pitchFamily="34" charset="0"/>
              </a:rPr>
              <a:t>fishing </a:t>
            </a:r>
            <a:r>
              <a:rPr lang="en-US" sz="2000" dirty="0">
                <a:latin typeface="Arial" pitchFamily="34" charset="0"/>
                <a:cs typeface="Arial" pitchFamily="34" charset="0"/>
              </a:rPr>
              <a:t>by dewatering, </a:t>
            </a:r>
            <a:endParaRPr lang="en-US" sz="2000" dirty="0" smtClean="0">
              <a:latin typeface="Arial" pitchFamily="34" charset="0"/>
              <a:cs typeface="Arial" pitchFamily="34" charset="0"/>
            </a:endParaRPr>
          </a:p>
          <a:p>
            <a:pPr algn="just">
              <a:buFont typeface="Wingdings" pitchFamily="2" charset="2"/>
              <a:buChar char="§"/>
            </a:pPr>
            <a:r>
              <a:rPr lang="en-US" sz="2000" dirty="0" smtClean="0">
                <a:latin typeface="Arial" pitchFamily="34" charset="0"/>
                <a:cs typeface="Arial" pitchFamily="34" charset="0"/>
              </a:rPr>
              <a:t>low </a:t>
            </a:r>
            <a:r>
              <a:rPr lang="en-US" sz="2000" dirty="0">
                <a:latin typeface="Arial" pitchFamily="34" charset="0"/>
                <a:cs typeface="Arial" pitchFamily="34" charset="0"/>
              </a:rPr>
              <a:t>water depth in winter, </a:t>
            </a:r>
            <a:endParaRPr lang="en-US" sz="2000" dirty="0" smtClean="0">
              <a:latin typeface="Arial" pitchFamily="34" charset="0"/>
              <a:cs typeface="Arial" pitchFamily="34" charset="0"/>
            </a:endParaRPr>
          </a:p>
          <a:p>
            <a:pPr algn="just">
              <a:buFont typeface="Wingdings" pitchFamily="2" charset="2"/>
              <a:buChar char="§"/>
            </a:pPr>
            <a:r>
              <a:rPr lang="en-US" sz="2000" dirty="0" smtClean="0">
                <a:latin typeface="Arial" pitchFamily="34" charset="0"/>
                <a:cs typeface="Arial" pitchFamily="34" charset="0"/>
              </a:rPr>
              <a:t>abstraction </a:t>
            </a:r>
            <a:r>
              <a:rPr lang="en-US" sz="2000" dirty="0">
                <a:latin typeface="Arial" pitchFamily="34" charset="0"/>
                <a:cs typeface="Arial" pitchFamily="34" charset="0"/>
              </a:rPr>
              <a:t>of water for irrigation, </a:t>
            </a:r>
            <a:endParaRPr lang="en-US" sz="2000" dirty="0" smtClean="0">
              <a:latin typeface="Arial" pitchFamily="34" charset="0"/>
              <a:cs typeface="Arial" pitchFamily="34" charset="0"/>
            </a:endParaRPr>
          </a:p>
          <a:p>
            <a:pPr algn="just">
              <a:buFont typeface="Wingdings" pitchFamily="2" charset="2"/>
              <a:buChar char="§"/>
            </a:pPr>
            <a:r>
              <a:rPr lang="en-US" sz="2000" dirty="0">
                <a:latin typeface="Arial" pitchFamily="34" charset="0"/>
                <a:cs typeface="Arial" pitchFamily="34" charset="0"/>
              </a:rPr>
              <a:t>the </a:t>
            </a:r>
            <a:r>
              <a:rPr lang="en-US" sz="2000" dirty="0" smtClean="0">
                <a:latin typeface="Arial" pitchFamily="34" charset="0"/>
                <a:cs typeface="Arial" pitchFamily="34" charset="0"/>
              </a:rPr>
              <a:t>capture of fish </a:t>
            </a:r>
            <a:r>
              <a:rPr lang="en-US" sz="2000" dirty="0">
                <a:latin typeface="Arial" pitchFamily="34" charset="0"/>
                <a:cs typeface="Arial" pitchFamily="34" charset="0"/>
              </a:rPr>
              <a:t>fry and brood fishes</a:t>
            </a:r>
            <a:r>
              <a:rPr lang="en-US" sz="2000" dirty="0" smtClean="0">
                <a:latin typeface="Arial" pitchFamily="34" charset="0"/>
                <a:cs typeface="Arial" pitchFamily="34" charset="0"/>
              </a:rPr>
              <a:t>.</a:t>
            </a:r>
          </a:p>
          <a:p>
            <a:pPr algn="just">
              <a:buFont typeface="Wingdings" pitchFamily="2" charset="2"/>
              <a:buChar char="§"/>
            </a:pPr>
            <a:r>
              <a:rPr lang="en-US" sz="2000" dirty="0">
                <a:latin typeface="Arial" pitchFamily="34" charset="0"/>
                <a:cs typeface="Arial" pitchFamily="34" charset="0"/>
              </a:rPr>
              <a:t>indiscriminate use of chemical fertilizer and </a:t>
            </a:r>
            <a:r>
              <a:rPr lang="en-US" sz="2000" dirty="0" smtClean="0">
                <a:latin typeface="Arial" pitchFamily="34" charset="0"/>
                <a:cs typeface="Arial" pitchFamily="34" charset="0"/>
              </a:rPr>
              <a:t>insecticides/</a:t>
            </a:r>
            <a:r>
              <a:rPr lang="en-US" sz="2000" dirty="0">
                <a:latin typeface="Arial" pitchFamily="34" charset="0"/>
                <a:cs typeface="Arial" pitchFamily="34" charset="0"/>
              </a:rPr>
              <a:t> pesticides</a:t>
            </a:r>
            <a:r>
              <a:rPr lang="en-US" sz="2000" dirty="0" smtClean="0">
                <a:latin typeface="Arial" pitchFamily="34" charset="0"/>
                <a:cs typeface="Arial" pitchFamily="34" charset="0"/>
              </a:rPr>
              <a:t> </a:t>
            </a:r>
          </a:p>
          <a:p>
            <a:pPr algn="just">
              <a:buFont typeface="Wingdings" pitchFamily="2" charset="2"/>
              <a:buChar char="§"/>
            </a:pPr>
            <a:r>
              <a:rPr lang="en-US" sz="2000" dirty="0" smtClean="0">
                <a:latin typeface="Arial" pitchFamily="34" charset="0"/>
                <a:cs typeface="Arial" pitchFamily="34" charset="0"/>
              </a:rPr>
              <a:t>destruction </a:t>
            </a:r>
            <a:r>
              <a:rPr lang="en-US" sz="2000" dirty="0">
                <a:latin typeface="Arial" pitchFamily="34" charset="0"/>
                <a:cs typeface="Arial" pitchFamily="34" charset="0"/>
              </a:rPr>
              <a:t>of natural </a:t>
            </a:r>
            <a:r>
              <a:rPr lang="en-US" sz="2000" dirty="0" smtClean="0">
                <a:latin typeface="Arial" pitchFamily="34" charset="0"/>
                <a:cs typeface="Arial" pitchFamily="34" charset="0"/>
              </a:rPr>
              <a:t>breeding </a:t>
            </a:r>
            <a:r>
              <a:rPr lang="en-US" sz="2000" dirty="0">
                <a:latin typeface="Arial" pitchFamily="34" charset="0"/>
                <a:cs typeface="Arial" pitchFamily="34" charset="0"/>
              </a:rPr>
              <a:t>grounds</a:t>
            </a:r>
            <a:r>
              <a:rPr lang="en-US" sz="2000" dirty="0" smtClean="0">
                <a:latin typeface="Arial" pitchFamily="34" charset="0"/>
                <a:cs typeface="Arial" pitchFamily="34" charset="0"/>
              </a:rPr>
              <a:t> </a:t>
            </a:r>
            <a:r>
              <a:rPr lang="en-US" sz="2000" dirty="0">
                <a:latin typeface="Arial" pitchFamily="34" charset="0"/>
                <a:cs typeface="Arial" pitchFamily="34" charset="0"/>
              </a:rPr>
              <a:t>and feeding grounds, </a:t>
            </a:r>
            <a:endParaRPr lang="en-US" sz="2000" dirty="0" smtClean="0">
              <a:latin typeface="Arial" pitchFamily="34" charset="0"/>
              <a:cs typeface="Arial" pitchFamily="34" charset="0"/>
            </a:endParaRPr>
          </a:p>
          <a:p>
            <a:pPr algn="just">
              <a:buFont typeface="Wingdings" pitchFamily="2" charset="2"/>
              <a:buChar char="§"/>
            </a:pPr>
            <a:r>
              <a:rPr lang="en-US" sz="2000" dirty="0" smtClean="0">
                <a:latin typeface="Arial" pitchFamily="34" charset="0"/>
                <a:cs typeface="Arial" pitchFamily="34" charset="0"/>
              </a:rPr>
              <a:t>harvesting </a:t>
            </a:r>
            <a:r>
              <a:rPr lang="en-US" sz="2000" dirty="0">
                <a:latin typeface="Arial" pitchFamily="34" charset="0"/>
                <a:cs typeface="Arial" pitchFamily="34" charset="0"/>
              </a:rPr>
              <a:t>of wild brood </a:t>
            </a:r>
            <a:r>
              <a:rPr lang="en-US" sz="2000" dirty="0" smtClean="0">
                <a:latin typeface="Arial" pitchFamily="34" charset="0"/>
                <a:cs typeface="Arial" pitchFamily="34" charset="0"/>
              </a:rPr>
              <a:t>fishes</a:t>
            </a:r>
          </a:p>
          <a:p>
            <a:pPr algn="just">
              <a:buFont typeface="Wingdings" pitchFamily="2" charset="2"/>
              <a:buChar char="§"/>
            </a:pPr>
            <a:r>
              <a:rPr lang="en-US" sz="2000" dirty="0">
                <a:latin typeface="Arial" pitchFamily="34" charset="0"/>
                <a:cs typeface="Arial" pitchFamily="34" charset="0"/>
              </a:rPr>
              <a:t>uncontrolled </a:t>
            </a:r>
            <a:r>
              <a:rPr lang="en-US" sz="2000" dirty="0" smtClean="0">
                <a:latin typeface="Arial" pitchFamily="34" charset="0"/>
                <a:cs typeface="Arial" pitchFamily="34" charset="0"/>
              </a:rPr>
              <a:t>fishing </a:t>
            </a:r>
          </a:p>
          <a:p>
            <a:pPr algn="just">
              <a:buFont typeface="Wingdings" pitchFamily="2" charset="2"/>
              <a:buChar char="§"/>
            </a:pPr>
            <a:r>
              <a:rPr lang="en-US" sz="2000" dirty="0" smtClean="0">
                <a:latin typeface="Arial" pitchFamily="34" charset="0"/>
                <a:cs typeface="Arial" pitchFamily="34" charset="0"/>
              </a:rPr>
              <a:t>poor </a:t>
            </a:r>
            <a:r>
              <a:rPr lang="en-US" sz="2000" dirty="0">
                <a:latin typeface="Arial" pitchFamily="34" charset="0"/>
                <a:cs typeface="Arial" pitchFamily="34" charset="0"/>
              </a:rPr>
              <a:t>implementation of fish acts and poor/or </a:t>
            </a:r>
            <a:r>
              <a:rPr lang="en-US" sz="2000" dirty="0" smtClean="0">
                <a:latin typeface="Arial" pitchFamily="34" charset="0"/>
                <a:cs typeface="Arial" pitchFamily="34" charset="0"/>
              </a:rPr>
              <a:t>lack </a:t>
            </a:r>
            <a:r>
              <a:rPr lang="en-US" sz="2000" dirty="0">
                <a:latin typeface="Arial" pitchFamily="34" charset="0"/>
                <a:cs typeface="Arial" pitchFamily="34" charset="0"/>
              </a:rPr>
              <a:t>of management practices in the </a:t>
            </a:r>
            <a:r>
              <a:rPr lang="en-US" sz="2000" dirty="0" smtClean="0">
                <a:latin typeface="Arial" pitchFamily="34" charset="0"/>
                <a:cs typeface="Arial" pitchFamily="34" charset="0"/>
              </a:rPr>
              <a:t>country</a:t>
            </a:r>
            <a:r>
              <a:rPr lang="en-US" sz="2000" dirty="0">
                <a:latin typeface="Arial" pitchFamily="34" charset="0"/>
                <a:cs typeface="Arial" pitchFamily="34" charset="0"/>
              </a:rPr>
              <a:t>.</a:t>
            </a:r>
          </a:p>
          <a:p>
            <a:pPr marL="0" indent="0" algn="just">
              <a:buNone/>
            </a:pPr>
            <a:r>
              <a:rPr lang="en-US" sz="2000" dirty="0" smtClean="0">
                <a:latin typeface="Arial" pitchFamily="34" charset="0"/>
                <a:cs typeface="Arial" pitchFamily="34" charset="0"/>
              </a:rPr>
              <a:t>ultimately affect the </a:t>
            </a:r>
            <a:r>
              <a:rPr lang="en-US" sz="2000" dirty="0">
                <a:latin typeface="Arial" pitchFamily="34" charset="0"/>
                <a:cs typeface="Arial" pitchFamily="34" charset="0"/>
              </a:rPr>
              <a:t>survival and existence of the fish fauna and resulting the declination of fish diversity. </a:t>
            </a:r>
          </a:p>
          <a:p>
            <a:pPr algn="just">
              <a:buFont typeface="Wingdings" pitchFamily="2" charset="2"/>
              <a:buChar char="§"/>
            </a:pPr>
            <a:endParaRPr lang="en-US" sz="2000" dirty="0" smtClean="0">
              <a:latin typeface="Arial" pitchFamily="34" charset="0"/>
              <a:cs typeface="Arial" pitchFamily="34" charset="0"/>
            </a:endParaRPr>
          </a:p>
          <a:p>
            <a:pPr algn="just">
              <a:buFont typeface="Wingdings" pitchFamily="2" charset="2"/>
              <a:buChar char="§"/>
            </a:pPr>
            <a:endParaRPr lang="en-US" sz="2000" dirty="0">
              <a:latin typeface="Arial" pitchFamily="34" charset="0"/>
              <a:cs typeface="Arial" pitchFamily="34" charset="0"/>
            </a:endParaRPr>
          </a:p>
          <a:p>
            <a:pPr algn="just">
              <a:buFont typeface="Wingdings" pitchFamily="2" charset="2"/>
              <a:buChar char="§"/>
            </a:pPr>
            <a:endParaRPr lang="en-US" sz="2000" dirty="0">
              <a:latin typeface="Arial" pitchFamily="34" charset="0"/>
              <a:cs typeface="Arial" pitchFamily="34" charset="0"/>
            </a:endParaRPr>
          </a:p>
          <a:p>
            <a:pPr algn="just">
              <a:buFont typeface="Wingdings" pitchFamily="2" charset="2"/>
              <a:buChar char="§"/>
            </a:pPr>
            <a:endParaRPr lang="en-US" sz="2000" dirty="0"/>
          </a:p>
        </p:txBody>
      </p:sp>
    </p:spTree>
    <p:extLst>
      <p:ext uri="{BB962C8B-B14F-4D97-AF65-F5344CB8AC3E}">
        <p14:creationId xmlns:p14="http://schemas.microsoft.com/office/powerpoint/2010/main" val="27079705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TotalTime>
  <Words>827</Words>
  <Application>Microsoft Office PowerPoint</Application>
  <PresentationFormat>On-screen Show (4:3)</PresentationFormat>
  <Paragraphs>62</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Threats to Freshwater Fishes in Bangladesh</vt:lpstr>
      <vt:lpstr>PowerPoint Presentation</vt:lpstr>
      <vt:lpstr>Threats to Freshwater Fishes in Bangladesh </vt:lpstr>
      <vt:lpstr>PowerPoint Presentation</vt:lpstr>
      <vt:lpstr>PowerPoint Presentation</vt:lpstr>
      <vt:lpstr>PowerPoint Presentation</vt:lpstr>
      <vt:lpstr>Untreated industrial effluents and municipal discharge</vt:lpstr>
      <vt:lpstr>PowerPoint Presentation</vt:lpstr>
      <vt:lpstr>Impact of Climate Change on Freshwater Fishes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Threats to Freshwater Fishes in Bangladesh </dc:title>
  <dc:creator>Momotaz Khanom</dc:creator>
  <cp:lastModifiedBy>Windows User</cp:lastModifiedBy>
  <cp:revision>61</cp:revision>
  <dcterms:created xsi:type="dcterms:W3CDTF">2006-08-16T00:00:00Z</dcterms:created>
  <dcterms:modified xsi:type="dcterms:W3CDTF">2023-09-25T18:08:16Z</dcterms:modified>
</cp:coreProperties>
</file>