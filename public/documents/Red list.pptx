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67" r:id="rId2"/>
    <p:sldId id="268" r:id="rId3"/>
    <p:sldId id="269" r:id="rId4"/>
    <p:sldId id="258" r:id="rId5"/>
    <p:sldId id="259" r:id="rId6"/>
    <p:sldId id="256" r:id="rId7"/>
    <p:sldId id="260" r:id="rId8"/>
    <p:sldId id="261" r:id="rId9"/>
    <p:sldId id="270" r:id="rId10"/>
    <p:sldId id="271" r:id="rId11"/>
    <p:sldId id="262" r:id="rId12"/>
    <p:sldId id="272" r:id="rId13"/>
    <p:sldId id="264" r:id="rId14"/>
    <p:sldId id="274" r:id="rId15"/>
    <p:sldId id="275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A78FF8-633E-4C33-94D8-F243F44A706E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CCBFAD-BFEB-414E-8A91-577CF129C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94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CCBFAD-BFEB-414E-8A91-577CF129CBB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889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2057400"/>
            <a:ext cx="8229600" cy="1143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0000"/>
                </a:solidFill>
              </a:rPr>
              <a:t>Red </a:t>
            </a:r>
            <a:r>
              <a:rPr lang="en-US" sz="4400" b="1" dirty="0" smtClean="0">
                <a:solidFill>
                  <a:srgbClr val="FF0000"/>
                </a:solidFill>
              </a:rPr>
              <a:t>List of Bangladesh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3966415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838200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solidFill>
                  <a:srgbClr val="C00000"/>
                </a:solidFill>
              </a:rPr>
              <a:t>Red List of Threatened Animals</a:t>
            </a:r>
            <a:endParaRPr lang="en-US" sz="40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764" y="1524000"/>
            <a:ext cx="8416636" cy="5486400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US" sz="2800" dirty="0" smtClean="0"/>
              <a:t>In 1964, </a:t>
            </a:r>
            <a:r>
              <a:rPr lang="en-US" sz="2800" smtClean="0"/>
              <a:t>the IUCN (</a:t>
            </a:r>
            <a:r>
              <a:rPr lang="en-US" sz="2800" dirty="0"/>
              <a:t>International Union for Conservation of </a:t>
            </a:r>
            <a:r>
              <a:rPr lang="en-US" sz="2800" dirty="0" smtClean="0"/>
              <a:t>Nature) Red List of Threatened Species has been successfully established as a powerful conservation tool.</a:t>
            </a:r>
          </a:p>
          <a:p>
            <a:pPr algn="just">
              <a:buFont typeface="Wingdings" pitchFamily="2" charset="2"/>
              <a:buChar char="§"/>
            </a:pPr>
            <a:r>
              <a:rPr lang="en-US" sz="2800" dirty="0"/>
              <a:t>I</a:t>
            </a:r>
            <a:r>
              <a:rPr lang="en-US" sz="2800" dirty="0" smtClean="0"/>
              <a:t>ts goal is to provide information and analyses on the status, trends and threats to species.</a:t>
            </a:r>
          </a:p>
          <a:p>
            <a:pPr algn="just">
              <a:buFont typeface="Wingdings" pitchFamily="2" charset="2"/>
              <a:buChar char="§"/>
            </a:pPr>
            <a:r>
              <a:rPr lang="en-US" sz="2800" dirty="0" smtClean="0"/>
              <a:t>World’s most comprehensive information source on the extinction risk of species.</a:t>
            </a:r>
          </a:p>
        </p:txBody>
      </p:sp>
    </p:spTree>
    <p:extLst>
      <p:ext uri="{BB962C8B-B14F-4D97-AF65-F5344CB8AC3E}">
        <p14:creationId xmlns:p14="http://schemas.microsoft.com/office/powerpoint/2010/main" val="1144694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001000" cy="632460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2800" dirty="0"/>
              <a:t>IUCN Bangladesh had published the first Red List of Threatened Animals of Bangladesh in 2000 where a total of </a:t>
            </a:r>
            <a:r>
              <a:rPr lang="en-US" sz="2800" dirty="0" smtClean="0"/>
              <a:t> </a:t>
            </a:r>
            <a:r>
              <a:rPr lang="en-US" sz="2800" dirty="0"/>
              <a:t>266 species of freshwater </a:t>
            </a:r>
            <a:r>
              <a:rPr lang="en-US" sz="2800" dirty="0" smtClean="0"/>
              <a:t>fishes </a:t>
            </a:r>
            <a:r>
              <a:rPr lang="en-US" sz="2800" dirty="0"/>
              <a:t>were assessed </a:t>
            </a:r>
            <a:r>
              <a:rPr lang="en-US" sz="2800" dirty="0" smtClean="0"/>
              <a:t>and among </a:t>
            </a:r>
            <a:r>
              <a:rPr lang="en-US" sz="2800" dirty="0"/>
              <a:t>these, 54 species were considered as Threatened. Among the assessed fishes</a:t>
            </a:r>
            <a:r>
              <a:rPr lang="en-US" sz="2800" dirty="0" smtClean="0"/>
              <a:t>, 12 </a:t>
            </a:r>
            <a:r>
              <a:rPr lang="en-US" sz="2800" dirty="0"/>
              <a:t>species were Critically Endangered (CR), 28 species Endangered (EN), 14 species Vulnerable (VU), 66 species Data Deficient (DD) and the rest 146 species were considered Not Threatened (NO</a:t>
            </a:r>
            <a:r>
              <a:rPr lang="en-US" sz="2800" dirty="0" smtClean="0"/>
              <a:t>).</a:t>
            </a:r>
            <a:endParaRPr lang="en-US" sz="2800" dirty="0"/>
          </a:p>
          <a:p>
            <a:pPr algn="just"/>
            <a:r>
              <a:rPr lang="en-US" sz="2800" dirty="0" smtClean="0"/>
              <a:t>In 2015, 253 </a:t>
            </a:r>
            <a:r>
              <a:rPr lang="en-US" sz="2800" dirty="0"/>
              <a:t>Freshwater Fishes were assessed. Threatened Categories are concerned nearly one fourth (64 species) of the species are under threat, among them 9 Critically Endangered, 30 Endangered, and 25 Vulnerable. This has been followed by </a:t>
            </a:r>
            <a:r>
              <a:rPr lang="en-US" sz="2800" dirty="0" smtClean="0"/>
              <a:t>27 </a:t>
            </a:r>
            <a:r>
              <a:rPr lang="en-US" sz="2800" dirty="0"/>
              <a:t>species as Near Threatened. T</a:t>
            </a:r>
            <a:r>
              <a:rPr lang="en-US" sz="2800" dirty="0" smtClean="0"/>
              <a:t>here </a:t>
            </a:r>
            <a:r>
              <a:rPr lang="en-US" sz="2800" dirty="0"/>
              <a:t>are </a:t>
            </a:r>
            <a:r>
              <a:rPr lang="en-US" sz="2800" dirty="0" smtClean="0"/>
              <a:t>122 </a:t>
            </a:r>
            <a:r>
              <a:rPr lang="en-US" sz="2800" dirty="0"/>
              <a:t>species that were assessed as Least Concern and rest of the 40 as Data </a:t>
            </a:r>
            <a:r>
              <a:rPr lang="en-US" sz="2800" dirty="0" smtClean="0"/>
              <a:t>Deficient.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070496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>
                <a:solidFill>
                  <a:srgbClr val="C00000"/>
                </a:solidFill>
              </a:rPr>
              <a:t>Red List Assessment Tools</a:t>
            </a:r>
            <a:endParaRPr lang="en-US" sz="40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5181600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q"/>
            </a:pPr>
            <a:r>
              <a:rPr lang="en-US" sz="3000" dirty="0" smtClean="0"/>
              <a:t>Two major tools applied during the assessment process----</a:t>
            </a:r>
          </a:p>
          <a:p>
            <a:pPr marL="400050" lvl="1" indent="0" algn="just">
              <a:buNone/>
            </a:pPr>
            <a:r>
              <a:rPr lang="en-US" sz="3000" dirty="0" smtClean="0"/>
              <a:t>1. ‘IUCN Red List Categories and Criteria Version    	3.1 (IUCN 2012)’ and</a:t>
            </a:r>
          </a:p>
          <a:p>
            <a:pPr lvl="1" algn="just">
              <a:buNone/>
            </a:pPr>
            <a:r>
              <a:rPr lang="en-US" sz="3000" dirty="0" smtClean="0"/>
              <a:t>2.‘Guidelines for Application of IUCN Red List Criteria at Regional and National Levels Version 4.0 (IUCN 2012)’. </a:t>
            </a:r>
          </a:p>
          <a:p>
            <a:pPr algn="just">
              <a:buNone/>
            </a:pPr>
            <a:r>
              <a:rPr lang="en-US" sz="3000" dirty="0" smtClean="0"/>
              <a:t> prepared </a:t>
            </a:r>
            <a:r>
              <a:rPr lang="en-US" sz="3000" dirty="0"/>
              <a:t>by IUCN Species Survival Commission (SSC).</a:t>
            </a:r>
            <a:endParaRPr lang="en-US" sz="3000" dirty="0" smtClean="0"/>
          </a:p>
          <a:p>
            <a:pPr algn="just">
              <a:buNone/>
            </a:pPr>
            <a:endParaRPr lang="en-US" sz="3000" dirty="0" smtClean="0"/>
          </a:p>
          <a:p>
            <a:pPr algn="just">
              <a:buNone/>
            </a:pPr>
            <a:endParaRPr lang="en-US" sz="3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22437"/>
            <a:ext cx="8229600" cy="4297363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US" sz="2700" dirty="0" smtClean="0"/>
              <a:t>A species assessment sheet designed by the IUCN Red List Unit was used for assessing an individual taxon.</a:t>
            </a:r>
          </a:p>
          <a:p>
            <a:pPr algn="just">
              <a:buFont typeface="Wingdings" pitchFamily="2" charset="2"/>
              <a:buChar char="§"/>
            </a:pPr>
            <a:r>
              <a:rPr lang="en-US" sz="2700" dirty="0"/>
              <a:t>GIS software was used </a:t>
            </a:r>
            <a:r>
              <a:rPr lang="en-US" sz="2700" dirty="0" smtClean="0"/>
              <a:t>to </a:t>
            </a:r>
            <a:r>
              <a:rPr lang="en-US" sz="2700" dirty="0"/>
              <a:t>assess the distribution of the </a:t>
            </a:r>
            <a:r>
              <a:rPr lang="en-US" sz="2700" dirty="0" smtClean="0"/>
              <a:t>taxon.</a:t>
            </a:r>
          </a:p>
          <a:p>
            <a:pPr algn="just">
              <a:buFont typeface="Wingdings" pitchFamily="2" charset="2"/>
              <a:buChar char="§"/>
            </a:pPr>
            <a:r>
              <a:rPr lang="en-US" sz="2700" dirty="0" smtClean="0"/>
              <a:t>All species have given a Species Identification Number i.e. SID</a:t>
            </a:r>
          </a:p>
          <a:p>
            <a:pPr algn="just">
              <a:buFont typeface="Wingdings" pitchFamily="2" charset="2"/>
              <a:buChar char="§"/>
            </a:pPr>
            <a:r>
              <a:rPr lang="en-US" sz="2700" dirty="0" smtClean="0"/>
              <a:t>Resource materials collected and preserved in IUCN Bangladesh Country Office </a:t>
            </a:r>
            <a:r>
              <a:rPr lang="en-US" sz="2700" dirty="0"/>
              <a:t>to be managed in the future by the IUCN itself or the Bangladesh Forest </a:t>
            </a:r>
            <a:r>
              <a:rPr lang="en-US" sz="2700" dirty="0" smtClean="0"/>
              <a:t>Department.</a:t>
            </a:r>
            <a:endParaRPr lang="en-US" sz="2700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solidFill>
                  <a:srgbClr val="C00000"/>
                </a:solidFill>
              </a:rPr>
              <a:t>Red List Assessment Tools</a:t>
            </a:r>
            <a:endParaRPr lang="en-US" sz="40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152400"/>
            <a:ext cx="8458200" cy="63445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6927" y="152400"/>
            <a:ext cx="3200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The IUCN Red list Categories</a:t>
            </a:r>
            <a:endParaRPr lang="en-US" sz="2800" b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 fontScale="90000"/>
          </a:bodyPr>
          <a:lstStyle/>
          <a:p>
            <a:r>
              <a:rPr 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Categories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458200" cy="58674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400" b="1" dirty="0" smtClean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EXTINCT (EX):</a:t>
            </a:r>
          </a:p>
          <a:p>
            <a:pPr algn="just">
              <a:buNone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   A taxon is Extinct when there is no reasonable doubt that the </a:t>
            </a:r>
            <a:r>
              <a:rPr lang="en-US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last individual has died.</a:t>
            </a:r>
          </a:p>
          <a:p>
            <a:pPr>
              <a:buFont typeface="Wingdings" pitchFamily="2" charset="2"/>
              <a:buChar char="q"/>
            </a:pP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EXTINCT IN THE WILD (EW)</a:t>
            </a:r>
          </a:p>
          <a:p>
            <a:pPr algn="just">
              <a:buNone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   A taxon is Extinct in the Wild when it is known only to </a:t>
            </a:r>
            <a:r>
              <a:rPr lang="en-US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survive in cultivation, in captivity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or as a naturalized population (or populations) well outside the past range. </a:t>
            </a:r>
          </a:p>
          <a:p>
            <a:pPr>
              <a:buFont typeface="Wingdings" pitchFamily="2" charset="2"/>
              <a:buChar char="q"/>
            </a:pPr>
            <a:r>
              <a:rPr lang="en-US" sz="2400" b="1" dirty="0" smtClean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REGIONALLY EXTINCT (RE)</a:t>
            </a:r>
          </a:p>
          <a:p>
            <a:pPr algn="just">
              <a:buNone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   Category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for a taxon when there is no reasonable doubt that the </a:t>
            </a:r>
            <a:r>
              <a:rPr lang="en-US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last individual potentially capable of reproduction within the region has died or has disappeared from the wild in the </a:t>
            </a:r>
            <a:r>
              <a:rPr lang="en-US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region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just">
              <a:buFont typeface="Wingdings" pitchFamily="2" charset="2"/>
              <a:buChar char="q"/>
            </a:pPr>
            <a:r>
              <a:rPr lang="en-US" sz="24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CRITICALLY ENDANGERED (CR)</a:t>
            </a:r>
          </a:p>
          <a:p>
            <a:pPr algn="just">
              <a:buFont typeface="Wingdings" pitchFamily="2" charset="2"/>
              <a:buChar char="§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A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taxon is Critically Endangered when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it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is therefore considered to be </a:t>
            </a:r>
            <a:r>
              <a:rPr lang="en-US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facing an extremely high risk of extinction in the wild</a:t>
            </a:r>
            <a:r>
              <a:rPr lang="en-US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§"/>
            </a:pPr>
            <a:r>
              <a:rPr lang="en-US" sz="2800" i="1" dirty="0" err="1"/>
              <a:t>Labeo</a:t>
            </a:r>
            <a:r>
              <a:rPr lang="en-US" sz="2800" i="1" dirty="0"/>
              <a:t> </a:t>
            </a:r>
            <a:r>
              <a:rPr lang="en-US" sz="2800" i="1" dirty="0" err="1"/>
              <a:t>boga</a:t>
            </a:r>
            <a:r>
              <a:rPr lang="en-US" sz="2800" i="1" dirty="0"/>
              <a:t> </a:t>
            </a:r>
            <a:r>
              <a:rPr lang="en-US" sz="2800" dirty="0"/>
              <a:t>(</a:t>
            </a:r>
            <a:r>
              <a:rPr lang="en-US" sz="2800" dirty="0" err="1"/>
              <a:t>Bhangan</a:t>
            </a:r>
            <a:r>
              <a:rPr lang="en-US" sz="2800" dirty="0"/>
              <a:t>, </a:t>
            </a:r>
            <a:r>
              <a:rPr lang="en-US" sz="2800" dirty="0" err="1"/>
              <a:t>Bhangan</a:t>
            </a:r>
            <a:r>
              <a:rPr lang="en-US" sz="2800" dirty="0"/>
              <a:t> Bata)</a:t>
            </a:r>
          </a:p>
          <a:p>
            <a:pPr algn="just">
              <a:buFont typeface="Wingdings" pitchFamily="2" charset="2"/>
              <a:buChar char="§"/>
            </a:pPr>
            <a:r>
              <a:rPr lang="en-US" sz="2800" i="1" dirty="0" err="1"/>
              <a:t>Labeo</a:t>
            </a:r>
            <a:r>
              <a:rPr lang="en-US" sz="2800" i="1" dirty="0"/>
              <a:t> </a:t>
            </a:r>
            <a:r>
              <a:rPr lang="en-US" sz="2800" i="1" dirty="0" err="1"/>
              <a:t>nandina</a:t>
            </a:r>
            <a:r>
              <a:rPr lang="en-US" sz="2800" i="1" dirty="0"/>
              <a:t> </a:t>
            </a:r>
            <a:r>
              <a:rPr lang="en-US" sz="2800" dirty="0"/>
              <a:t>(</a:t>
            </a:r>
            <a:r>
              <a:rPr lang="en-US" sz="2800" dirty="0" err="1"/>
              <a:t>Nandil</a:t>
            </a:r>
            <a:r>
              <a:rPr lang="en-US" sz="2800" dirty="0"/>
              <a:t>, Nandi, </a:t>
            </a:r>
            <a:r>
              <a:rPr lang="en-US" sz="2800" dirty="0" err="1"/>
              <a:t>Nandina</a:t>
            </a:r>
            <a:r>
              <a:rPr lang="en-US" sz="2800" dirty="0"/>
              <a:t>)</a:t>
            </a:r>
          </a:p>
          <a:p>
            <a:pPr algn="just">
              <a:buFont typeface="Wingdings" pitchFamily="2" charset="2"/>
              <a:buChar char="§"/>
            </a:pPr>
            <a:r>
              <a:rPr lang="en-US" sz="2800" i="1" dirty="0"/>
              <a:t>Tor </a:t>
            </a:r>
            <a:r>
              <a:rPr lang="en-US" sz="2800" i="1" dirty="0" err="1"/>
              <a:t>tor</a:t>
            </a:r>
            <a:r>
              <a:rPr lang="en-US" sz="2800" i="1" dirty="0"/>
              <a:t> </a:t>
            </a:r>
            <a:r>
              <a:rPr lang="en-US" sz="2800" dirty="0"/>
              <a:t>(</a:t>
            </a:r>
            <a:r>
              <a:rPr lang="en-US" sz="2800" dirty="0" err="1"/>
              <a:t>Mohashol</a:t>
            </a:r>
            <a:r>
              <a:rPr lang="en-US" sz="2800" dirty="0"/>
              <a:t>, </a:t>
            </a:r>
            <a:r>
              <a:rPr lang="en-US" sz="2800" dirty="0" err="1"/>
              <a:t>Mohsheer</a:t>
            </a:r>
            <a:r>
              <a:rPr lang="en-US" sz="2800" dirty="0" smtClean="0"/>
              <a:t>)</a:t>
            </a:r>
            <a:endParaRPr lang="en-US" sz="2800" dirty="0" smtClean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algn="just">
              <a:buFont typeface="Wingdings" pitchFamily="2" charset="2"/>
              <a:buChar char="§"/>
            </a:pPr>
            <a:r>
              <a:rPr lang="en-US" sz="2800" i="1" dirty="0" err="1"/>
              <a:t>Channa</a:t>
            </a:r>
            <a:r>
              <a:rPr lang="en-US" sz="2800" i="1" dirty="0"/>
              <a:t> </a:t>
            </a:r>
            <a:r>
              <a:rPr lang="en-US" sz="2800" i="1" dirty="0" err="1"/>
              <a:t>barca</a:t>
            </a:r>
            <a:r>
              <a:rPr lang="en-US" sz="2800" i="1" dirty="0"/>
              <a:t> </a:t>
            </a:r>
            <a:r>
              <a:rPr lang="en-US" sz="2800" dirty="0" smtClean="0"/>
              <a:t>(</a:t>
            </a:r>
            <a:r>
              <a:rPr lang="en-US" sz="2800" dirty="0" err="1" smtClean="0"/>
              <a:t>Pipla</a:t>
            </a:r>
            <a:r>
              <a:rPr lang="en-US" sz="2800" dirty="0"/>
              <a:t>, </a:t>
            </a:r>
            <a:r>
              <a:rPr lang="en-US" sz="2800" dirty="0" err="1"/>
              <a:t>Pipla</a:t>
            </a:r>
            <a:r>
              <a:rPr lang="en-US" sz="2800" dirty="0"/>
              <a:t> </a:t>
            </a:r>
            <a:r>
              <a:rPr lang="en-US" sz="2800" dirty="0" err="1"/>
              <a:t>Shol</a:t>
            </a:r>
            <a:r>
              <a:rPr lang="en-US" sz="2800" dirty="0"/>
              <a:t>, </a:t>
            </a:r>
            <a:r>
              <a:rPr lang="en-US" sz="2800" dirty="0" err="1" smtClean="0"/>
              <a:t>Tila</a:t>
            </a:r>
            <a:r>
              <a:rPr lang="en-US" sz="2800" dirty="0" smtClean="0"/>
              <a:t> </a:t>
            </a:r>
            <a:r>
              <a:rPr lang="en-US" sz="2800" dirty="0" err="1" smtClean="0"/>
              <a:t>Shol</a:t>
            </a:r>
            <a:r>
              <a:rPr lang="en-US" sz="2800" dirty="0" smtClean="0"/>
              <a:t>)</a:t>
            </a:r>
          </a:p>
          <a:p>
            <a:pPr algn="just">
              <a:buFont typeface="Wingdings" pitchFamily="2" charset="2"/>
              <a:buChar char="§"/>
            </a:pPr>
            <a:r>
              <a:rPr lang="en-US" sz="2800" i="1" dirty="0" err="1"/>
              <a:t>Ompok</a:t>
            </a:r>
            <a:r>
              <a:rPr lang="en-US" sz="2800" i="1" dirty="0"/>
              <a:t> </a:t>
            </a:r>
            <a:r>
              <a:rPr lang="en-US" sz="2800" i="1" dirty="0" err="1"/>
              <a:t>pabo</a:t>
            </a:r>
            <a:r>
              <a:rPr lang="en-US" sz="2800" i="1" dirty="0"/>
              <a:t> </a:t>
            </a:r>
            <a:r>
              <a:rPr lang="en-US" sz="2800" dirty="0" smtClean="0"/>
              <a:t>(</a:t>
            </a:r>
            <a:r>
              <a:rPr lang="en-US" sz="2800" dirty="0" err="1" smtClean="0"/>
              <a:t>Pabda</a:t>
            </a:r>
            <a:r>
              <a:rPr lang="en-US" sz="2800" dirty="0"/>
              <a:t>, Kala </a:t>
            </a:r>
            <a:r>
              <a:rPr lang="en-US" sz="2800" dirty="0" err="1" smtClean="0"/>
              <a:t>Pabda</a:t>
            </a:r>
            <a:r>
              <a:rPr lang="en-US" sz="2800" dirty="0" smtClean="0"/>
              <a:t>)</a:t>
            </a:r>
          </a:p>
          <a:p>
            <a:pPr marL="0" indent="0" algn="just">
              <a:buNone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.</a:t>
            </a:r>
            <a:endParaRPr lang="en-US" sz="2800" b="1" dirty="0">
              <a:solidFill>
                <a:srgbClr val="FFFF00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lnSpcReduction="10000"/>
          </a:bodyPr>
          <a:lstStyle/>
          <a:p>
            <a:pPr algn="just">
              <a:buFont typeface="Wingdings" pitchFamily="2" charset="2"/>
              <a:buChar char="§"/>
            </a:pPr>
            <a:r>
              <a:rPr lang="en-US" sz="2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ENDANGERED (EN) </a:t>
            </a:r>
          </a:p>
          <a:p>
            <a:pPr algn="just">
              <a:buFont typeface="Wingdings" pitchFamily="2" charset="2"/>
              <a:buChar char="§"/>
            </a:pPr>
            <a:r>
              <a:rPr lang="en-US" dirty="0">
                <a:latin typeface="Arial" pitchFamily="34" charset="0"/>
                <a:cs typeface="Arial" pitchFamily="34" charset="0"/>
              </a:rPr>
              <a:t> 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A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taxon is Endangered when it is therefore considered to be </a:t>
            </a:r>
            <a:r>
              <a:rPr lang="en-US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facing a very high risk of extinction in the wild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§"/>
            </a:pPr>
            <a:r>
              <a:rPr lang="en-US" i="1" dirty="0" err="1"/>
              <a:t>Pangasius</a:t>
            </a:r>
            <a:r>
              <a:rPr lang="en-US" i="1" dirty="0"/>
              <a:t> </a:t>
            </a:r>
            <a:r>
              <a:rPr lang="en-US" i="1" dirty="0" err="1"/>
              <a:t>pangasius</a:t>
            </a:r>
            <a:r>
              <a:rPr lang="en-US" i="1" dirty="0"/>
              <a:t> </a:t>
            </a:r>
            <a:r>
              <a:rPr lang="en-US" dirty="0" smtClean="0"/>
              <a:t>(</a:t>
            </a:r>
            <a:r>
              <a:rPr lang="en-US" dirty="0" err="1" smtClean="0"/>
              <a:t>Pangas</a:t>
            </a:r>
            <a:r>
              <a:rPr lang="en-US" dirty="0" smtClean="0"/>
              <a:t>)</a:t>
            </a:r>
          </a:p>
          <a:p>
            <a:pPr algn="just">
              <a:buFont typeface="Wingdings" pitchFamily="2" charset="2"/>
              <a:buChar char="§"/>
            </a:pPr>
            <a:r>
              <a:rPr lang="en-US" i="1" dirty="0" err="1"/>
              <a:t>Ompok</a:t>
            </a:r>
            <a:r>
              <a:rPr lang="en-US" i="1" dirty="0"/>
              <a:t> </a:t>
            </a:r>
            <a:r>
              <a:rPr lang="en-US" i="1" dirty="0" err="1" smtClean="0"/>
              <a:t>pabda</a:t>
            </a:r>
            <a:r>
              <a:rPr lang="en-US" i="1" dirty="0"/>
              <a:t> </a:t>
            </a:r>
            <a:r>
              <a:rPr lang="en-US" dirty="0"/>
              <a:t>(</a:t>
            </a:r>
            <a:r>
              <a:rPr lang="en-US" dirty="0" err="1"/>
              <a:t>Madhu</a:t>
            </a:r>
            <a:r>
              <a:rPr lang="en-US" dirty="0"/>
              <a:t> </a:t>
            </a:r>
            <a:r>
              <a:rPr lang="en-US" dirty="0" err="1"/>
              <a:t>pabda</a:t>
            </a:r>
            <a:r>
              <a:rPr lang="en-US" dirty="0"/>
              <a:t>, </a:t>
            </a:r>
            <a:r>
              <a:rPr lang="en-US" dirty="0" err="1"/>
              <a:t>Pabda</a:t>
            </a:r>
            <a:r>
              <a:rPr lang="en-US" dirty="0"/>
              <a:t>, </a:t>
            </a:r>
            <a:r>
              <a:rPr lang="en-US" dirty="0" err="1"/>
              <a:t>Paibba</a:t>
            </a:r>
            <a:r>
              <a:rPr lang="en-US" dirty="0" smtClean="0"/>
              <a:t>)</a:t>
            </a:r>
          </a:p>
          <a:p>
            <a:pPr algn="just">
              <a:buFont typeface="Wingdings" pitchFamily="2" charset="2"/>
              <a:buChar char="§"/>
            </a:pPr>
            <a:r>
              <a:rPr lang="en-US" i="1" dirty="0" err="1"/>
              <a:t>Ompok</a:t>
            </a:r>
            <a:r>
              <a:rPr lang="en-US" i="1" dirty="0"/>
              <a:t> </a:t>
            </a:r>
            <a:r>
              <a:rPr lang="en-US" i="1" dirty="0" err="1"/>
              <a:t>bimaculatus</a:t>
            </a:r>
            <a:r>
              <a:rPr lang="en-US" i="1" dirty="0"/>
              <a:t> </a:t>
            </a:r>
            <a:r>
              <a:rPr lang="en-US" dirty="0"/>
              <a:t>(</a:t>
            </a:r>
            <a:r>
              <a:rPr lang="en-US" dirty="0" err="1" smtClean="0"/>
              <a:t>Kani</a:t>
            </a:r>
            <a:r>
              <a:rPr lang="en-US" dirty="0" smtClean="0"/>
              <a:t> </a:t>
            </a:r>
            <a:r>
              <a:rPr lang="en-US" dirty="0" err="1"/>
              <a:t>Pabda</a:t>
            </a:r>
            <a:r>
              <a:rPr lang="en-US" dirty="0"/>
              <a:t>, </a:t>
            </a:r>
            <a:r>
              <a:rPr lang="en-US" dirty="0" err="1"/>
              <a:t>Boali</a:t>
            </a:r>
            <a:r>
              <a:rPr lang="en-US" dirty="0"/>
              <a:t> </a:t>
            </a:r>
            <a:r>
              <a:rPr lang="en-US" dirty="0" err="1" smtClean="0"/>
              <a:t>Pabda</a:t>
            </a:r>
            <a:r>
              <a:rPr lang="en-US" dirty="0" smtClean="0"/>
              <a:t>)</a:t>
            </a:r>
          </a:p>
          <a:p>
            <a:pPr algn="just">
              <a:buFont typeface="Wingdings" pitchFamily="2" charset="2"/>
              <a:buChar char="§"/>
            </a:pPr>
            <a:r>
              <a:rPr lang="it-IT" i="1" dirty="0" smtClean="0"/>
              <a:t>Rita </a:t>
            </a:r>
            <a:r>
              <a:rPr lang="it-IT" i="1" dirty="0"/>
              <a:t>rita </a:t>
            </a:r>
            <a:r>
              <a:rPr lang="it-IT" dirty="0" smtClean="0"/>
              <a:t>(Rita</a:t>
            </a:r>
            <a:r>
              <a:rPr lang="it-IT" dirty="0"/>
              <a:t>, </a:t>
            </a:r>
            <a:r>
              <a:rPr lang="it-IT" dirty="0" smtClean="0"/>
              <a:t>Rida)</a:t>
            </a:r>
          </a:p>
          <a:p>
            <a:pPr algn="just">
              <a:buFont typeface="Wingdings" pitchFamily="2" charset="2"/>
              <a:buChar char="§"/>
            </a:pPr>
            <a:r>
              <a:rPr lang="en-US" i="1" dirty="0" err="1"/>
              <a:t>Channa</a:t>
            </a:r>
            <a:r>
              <a:rPr lang="en-US" i="1" dirty="0"/>
              <a:t> </a:t>
            </a:r>
            <a:r>
              <a:rPr lang="en-US" i="1" dirty="0" err="1"/>
              <a:t>marulius</a:t>
            </a:r>
            <a:r>
              <a:rPr lang="en-US" i="1" dirty="0"/>
              <a:t> </a:t>
            </a:r>
            <a:r>
              <a:rPr lang="en-US" dirty="0" smtClean="0"/>
              <a:t>(</a:t>
            </a:r>
            <a:r>
              <a:rPr lang="en-US" dirty="0" err="1" smtClean="0"/>
              <a:t>Gajar</a:t>
            </a:r>
            <a:r>
              <a:rPr lang="en-US" dirty="0"/>
              <a:t>, </a:t>
            </a:r>
            <a:r>
              <a:rPr lang="en-US" dirty="0" err="1"/>
              <a:t>Gajal</a:t>
            </a:r>
            <a:r>
              <a:rPr lang="en-US" dirty="0"/>
              <a:t>, Sal, </a:t>
            </a:r>
            <a:r>
              <a:rPr lang="en-US" dirty="0" err="1"/>
              <a:t>Gajori</a:t>
            </a:r>
            <a:r>
              <a:rPr lang="en-US" dirty="0"/>
              <a:t> </a:t>
            </a:r>
            <a:r>
              <a:rPr lang="en-US" dirty="0" smtClean="0"/>
              <a:t>)</a:t>
            </a:r>
          </a:p>
          <a:p>
            <a:pPr algn="just">
              <a:buFont typeface="Wingdings" pitchFamily="2" charset="2"/>
              <a:buChar char="§"/>
            </a:pPr>
            <a:r>
              <a:rPr lang="en-US" i="1" dirty="0" err="1"/>
              <a:t>Chitala</a:t>
            </a:r>
            <a:r>
              <a:rPr lang="en-US" i="1" dirty="0"/>
              <a:t> </a:t>
            </a:r>
            <a:r>
              <a:rPr lang="en-US" i="1" dirty="0" err="1"/>
              <a:t>chitala</a:t>
            </a:r>
            <a:r>
              <a:rPr lang="en-US" dirty="0"/>
              <a:t> </a:t>
            </a:r>
            <a:r>
              <a:rPr lang="en-US" dirty="0" smtClean="0"/>
              <a:t>(Chital</a:t>
            </a:r>
            <a:r>
              <a:rPr lang="en-US" dirty="0"/>
              <a:t>, </a:t>
            </a:r>
            <a:r>
              <a:rPr lang="en-US" dirty="0" err="1" smtClean="0"/>
              <a:t>Chitna</a:t>
            </a:r>
            <a:r>
              <a:rPr lang="en-US" dirty="0" smtClean="0"/>
              <a:t>)</a:t>
            </a:r>
          </a:p>
          <a:p>
            <a:pPr algn="just">
              <a:buFont typeface="Wingdings" pitchFamily="2" charset="2"/>
              <a:buChar char="§"/>
            </a:pPr>
            <a:r>
              <a:rPr lang="en-US" i="1" dirty="0" err="1"/>
              <a:t>Botia</a:t>
            </a:r>
            <a:r>
              <a:rPr lang="en-US" i="1" dirty="0"/>
              <a:t> Dario </a:t>
            </a:r>
            <a:r>
              <a:rPr lang="en-US" dirty="0" smtClean="0"/>
              <a:t>(Rani </a:t>
            </a:r>
            <a:r>
              <a:rPr lang="en-US" dirty="0"/>
              <a:t>Mach, </a:t>
            </a:r>
            <a:r>
              <a:rPr lang="en-US" dirty="0" err="1"/>
              <a:t>Bou</a:t>
            </a:r>
            <a:r>
              <a:rPr lang="en-US" dirty="0"/>
              <a:t> </a:t>
            </a:r>
            <a:r>
              <a:rPr lang="en-US" dirty="0" smtClean="0"/>
              <a:t>Mach)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0459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533400"/>
            <a:ext cx="8229600" cy="5257800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US" sz="2800" b="1" dirty="0">
                <a:solidFill>
                  <a:srgbClr val="FFC000"/>
                </a:solidFill>
                <a:latin typeface="Arial" pitchFamily="34" charset="0"/>
                <a:cs typeface="Arial" pitchFamily="34" charset="0"/>
              </a:rPr>
              <a:t>VULNERABLE (VU)</a:t>
            </a:r>
          </a:p>
          <a:p>
            <a:pPr algn="just">
              <a:buFont typeface="Wingdings" pitchFamily="2" charset="2"/>
              <a:buChar char="§"/>
            </a:pPr>
            <a:r>
              <a:rPr lang="en-US" dirty="0">
                <a:latin typeface="Arial" pitchFamily="34" charset="0"/>
                <a:cs typeface="Arial" pitchFamily="34" charset="0"/>
              </a:rPr>
              <a:t>A taxon is Vulnerable when it is therefore considered to be 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facing a high risk of extinction in the wild. </a:t>
            </a:r>
            <a:endParaRPr lang="en-US" b="1" dirty="0" smtClean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algn="just">
              <a:buFont typeface="Wingdings" pitchFamily="2" charset="2"/>
              <a:buChar char="§"/>
            </a:pPr>
            <a:r>
              <a:rPr lang="en-US" i="1" dirty="0" err="1" smtClean="0"/>
              <a:t>Gudusia</a:t>
            </a:r>
            <a:r>
              <a:rPr lang="en-US" i="1" dirty="0" smtClean="0"/>
              <a:t> </a:t>
            </a:r>
            <a:r>
              <a:rPr lang="en-US" i="1" dirty="0" err="1"/>
              <a:t>chapra</a:t>
            </a:r>
            <a:r>
              <a:rPr lang="en-US" i="1" dirty="0"/>
              <a:t> </a:t>
            </a:r>
            <a:r>
              <a:rPr lang="en-US" dirty="0" smtClean="0"/>
              <a:t>(</a:t>
            </a:r>
            <a:r>
              <a:rPr lang="en-US" dirty="0" err="1" smtClean="0"/>
              <a:t>Chapila</a:t>
            </a:r>
            <a:r>
              <a:rPr lang="en-US" dirty="0"/>
              <a:t>, </a:t>
            </a:r>
            <a:r>
              <a:rPr lang="en-US" dirty="0" err="1"/>
              <a:t>Chaipla</a:t>
            </a:r>
            <a:r>
              <a:rPr lang="en-US" dirty="0"/>
              <a:t>, </a:t>
            </a:r>
            <a:r>
              <a:rPr lang="en-US" dirty="0" err="1" smtClean="0"/>
              <a:t>Suiya</a:t>
            </a:r>
            <a:r>
              <a:rPr lang="en-US" dirty="0" smtClean="0"/>
              <a:t>)</a:t>
            </a:r>
          </a:p>
          <a:p>
            <a:pPr algn="just">
              <a:buFont typeface="Wingdings" pitchFamily="2" charset="2"/>
              <a:buChar char="§"/>
            </a:pPr>
            <a:r>
              <a:rPr lang="en-US" i="1" dirty="0"/>
              <a:t>Chela </a:t>
            </a:r>
            <a:r>
              <a:rPr lang="en-US" i="1" dirty="0" err="1"/>
              <a:t>cachius</a:t>
            </a:r>
            <a:r>
              <a:rPr lang="en-US" i="1" dirty="0"/>
              <a:t> </a:t>
            </a:r>
            <a:r>
              <a:rPr lang="en-US" dirty="0" smtClean="0"/>
              <a:t>(</a:t>
            </a:r>
            <a:r>
              <a:rPr lang="en-US" dirty="0" err="1" smtClean="0"/>
              <a:t>Chhep</a:t>
            </a:r>
            <a:r>
              <a:rPr lang="en-US" dirty="0" smtClean="0"/>
              <a:t> chela)</a:t>
            </a:r>
          </a:p>
          <a:p>
            <a:pPr algn="just">
              <a:buFont typeface="Wingdings" pitchFamily="2" charset="2"/>
              <a:buChar char="§"/>
            </a:pPr>
            <a:r>
              <a:rPr lang="en-US" i="1" dirty="0" err="1"/>
              <a:t>Labeo</a:t>
            </a:r>
            <a:r>
              <a:rPr lang="en-US" i="1" dirty="0"/>
              <a:t> </a:t>
            </a:r>
            <a:r>
              <a:rPr lang="en-US" i="1" dirty="0" err="1"/>
              <a:t>ariza</a:t>
            </a:r>
            <a:r>
              <a:rPr lang="en-US" dirty="0"/>
              <a:t> </a:t>
            </a:r>
            <a:r>
              <a:rPr lang="en-US" dirty="0" smtClean="0"/>
              <a:t>(Lasso</a:t>
            </a:r>
            <a:r>
              <a:rPr lang="en-US" dirty="0"/>
              <a:t>, </a:t>
            </a:r>
            <a:r>
              <a:rPr lang="en-US" dirty="0" err="1"/>
              <a:t>Raik</a:t>
            </a:r>
            <a:r>
              <a:rPr lang="en-US" dirty="0"/>
              <a:t>, </a:t>
            </a:r>
            <a:r>
              <a:rPr lang="en-US" dirty="0" smtClean="0"/>
              <a:t>Bata)</a:t>
            </a:r>
          </a:p>
          <a:p>
            <a:pPr algn="just">
              <a:buFont typeface="Wingdings" pitchFamily="2" charset="2"/>
              <a:buChar char="§"/>
            </a:pPr>
            <a:r>
              <a:rPr lang="en-US" i="1" dirty="0" err="1"/>
              <a:t>Labeo</a:t>
            </a:r>
            <a:r>
              <a:rPr lang="en-US" i="1" dirty="0"/>
              <a:t> </a:t>
            </a:r>
            <a:r>
              <a:rPr lang="en-US" i="1" dirty="0" err="1"/>
              <a:t>boggut</a:t>
            </a:r>
            <a:r>
              <a:rPr lang="en-US" dirty="0"/>
              <a:t> </a:t>
            </a:r>
            <a:r>
              <a:rPr lang="en-US" dirty="0" smtClean="0"/>
              <a:t>(</a:t>
            </a:r>
            <a:r>
              <a:rPr lang="en-US" dirty="0" err="1" smtClean="0"/>
              <a:t>Ghonia</a:t>
            </a:r>
            <a:r>
              <a:rPr lang="en-US" dirty="0"/>
              <a:t>, </a:t>
            </a:r>
            <a:r>
              <a:rPr lang="en-US" dirty="0" err="1"/>
              <a:t>Paharia</a:t>
            </a:r>
            <a:r>
              <a:rPr lang="en-US" dirty="0"/>
              <a:t> </a:t>
            </a:r>
            <a:r>
              <a:rPr lang="en-US" dirty="0" err="1" smtClean="0"/>
              <a:t>Maach</a:t>
            </a:r>
            <a:r>
              <a:rPr lang="en-US" dirty="0" smtClean="0"/>
              <a:t>)</a:t>
            </a:r>
          </a:p>
          <a:p>
            <a:pPr algn="just">
              <a:buFont typeface="Wingdings" pitchFamily="2" charset="2"/>
              <a:buChar char="§"/>
            </a:pPr>
            <a:r>
              <a:rPr lang="en-US" i="1" dirty="0" err="1"/>
              <a:t>Notopterus</a:t>
            </a:r>
            <a:r>
              <a:rPr lang="en-US" i="1" dirty="0"/>
              <a:t> </a:t>
            </a:r>
            <a:r>
              <a:rPr lang="en-US" i="1" dirty="0" err="1"/>
              <a:t>notopterus</a:t>
            </a:r>
            <a:r>
              <a:rPr lang="en-US" i="1" dirty="0"/>
              <a:t> </a:t>
            </a:r>
            <a:r>
              <a:rPr lang="en-US" dirty="0"/>
              <a:t>(</a:t>
            </a:r>
            <a:r>
              <a:rPr lang="en-US" dirty="0" smtClean="0"/>
              <a:t> </a:t>
            </a:r>
            <a:r>
              <a:rPr lang="en-US" dirty="0" err="1"/>
              <a:t>Foli</a:t>
            </a:r>
            <a:r>
              <a:rPr lang="en-US" dirty="0"/>
              <a:t>, </a:t>
            </a:r>
            <a:r>
              <a:rPr lang="en-US" dirty="0" err="1"/>
              <a:t>Haila</a:t>
            </a:r>
            <a:r>
              <a:rPr lang="en-US" dirty="0"/>
              <a:t>, </a:t>
            </a:r>
            <a:r>
              <a:rPr lang="en-US" dirty="0" err="1" smtClean="0"/>
              <a:t>Kanla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99633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1"/>
            <a:ext cx="8229600" cy="5029200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q"/>
            </a:pPr>
            <a:r>
              <a:rPr lang="en-US" sz="2400" b="1" dirty="0" smtClean="0">
                <a:solidFill>
                  <a:srgbClr val="92D050"/>
                </a:solidFill>
                <a:latin typeface="Arial" pitchFamily="34" charset="0"/>
                <a:cs typeface="Arial" pitchFamily="34" charset="0"/>
              </a:rPr>
              <a:t>NEAR THREATENED (NT)</a:t>
            </a:r>
          </a:p>
          <a:p>
            <a:pPr algn="just">
              <a:buFont typeface="Wingdings" pitchFamily="2" charset="2"/>
              <a:buChar char="§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A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taxon is Near Threatened when it has been evaluated against the criteria but does not qualify for Critically Endangered, Endangered or Vulnerable now, but is </a:t>
            </a:r>
            <a:r>
              <a:rPr lang="en-US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close to qualifying for or is likely to qualify for a threatened category in the near future</a:t>
            </a:r>
            <a:r>
              <a:rPr lang="en-US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§"/>
            </a:pPr>
            <a:r>
              <a:rPr lang="en-US" sz="2400" i="1" dirty="0" err="1"/>
              <a:t>Cirrhinus</a:t>
            </a:r>
            <a:r>
              <a:rPr lang="en-US" sz="2400" i="1" dirty="0"/>
              <a:t> </a:t>
            </a:r>
            <a:r>
              <a:rPr lang="en-US" sz="2400" i="1" dirty="0" err="1"/>
              <a:t>cirrhosus</a:t>
            </a:r>
            <a:r>
              <a:rPr lang="en-US" sz="2400" i="1" dirty="0"/>
              <a:t> </a:t>
            </a:r>
            <a:r>
              <a:rPr lang="en-US" sz="2400" dirty="0" smtClean="0"/>
              <a:t>(</a:t>
            </a:r>
            <a:r>
              <a:rPr lang="en-US" sz="2400" dirty="0" err="1" smtClean="0"/>
              <a:t>Mrigal</a:t>
            </a:r>
            <a:r>
              <a:rPr lang="en-US" sz="2400" dirty="0"/>
              <a:t>, </a:t>
            </a:r>
            <a:r>
              <a:rPr lang="en-US" sz="2400" dirty="0" err="1"/>
              <a:t>Mirka</a:t>
            </a:r>
            <a:r>
              <a:rPr lang="en-US" sz="2400" dirty="0"/>
              <a:t>, </a:t>
            </a:r>
            <a:r>
              <a:rPr lang="en-US" sz="2400" dirty="0" err="1"/>
              <a:t>Mahal</a:t>
            </a:r>
            <a:r>
              <a:rPr lang="en-US" sz="2400" dirty="0"/>
              <a:t>, </a:t>
            </a:r>
            <a:r>
              <a:rPr lang="en-US" sz="2400" dirty="0" err="1" smtClean="0"/>
              <a:t>Malmuch</a:t>
            </a:r>
            <a:r>
              <a:rPr lang="en-US" sz="2400" dirty="0" smtClean="0"/>
              <a:t>)</a:t>
            </a:r>
          </a:p>
          <a:p>
            <a:pPr algn="just">
              <a:buFont typeface="Wingdings" pitchFamily="2" charset="2"/>
              <a:buChar char="§"/>
            </a:pPr>
            <a:r>
              <a:rPr lang="en-US" sz="2400" i="1" dirty="0" err="1"/>
              <a:t>Cirrhinus</a:t>
            </a:r>
            <a:r>
              <a:rPr lang="en-US" sz="2400" i="1" dirty="0"/>
              <a:t> </a:t>
            </a:r>
            <a:r>
              <a:rPr lang="en-US" sz="2400" i="1" dirty="0" err="1"/>
              <a:t>reba</a:t>
            </a:r>
            <a:r>
              <a:rPr lang="en-US" sz="2400" i="1" dirty="0"/>
              <a:t> </a:t>
            </a:r>
            <a:r>
              <a:rPr lang="en-US" sz="2400" dirty="0" smtClean="0"/>
              <a:t>(</a:t>
            </a:r>
            <a:r>
              <a:rPr lang="en-US" sz="2400" dirty="0" err="1" smtClean="0"/>
              <a:t>Bhanga</a:t>
            </a:r>
            <a:r>
              <a:rPr lang="en-US" sz="2400" dirty="0"/>
              <a:t>, </a:t>
            </a:r>
            <a:r>
              <a:rPr lang="en-US" sz="2400" dirty="0" err="1"/>
              <a:t>Tatkini</a:t>
            </a:r>
            <a:r>
              <a:rPr lang="en-US" sz="2400" dirty="0"/>
              <a:t>, Bata, </a:t>
            </a:r>
            <a:r>
              <a:rPr lang="en-US" sz="2400" dirty="0" err="1" smtClean="0"/>
              <a:t>Laccho</a:t>
            </a:r>
            <a:r>
              <a:rPr lang="en-US" sz="2400" dirty="0" smtClean="0"/>
              <a:t>)</a:t>
            </a:r>
          </a:p>
          <a:p>
            <a:pPr algn="just">
              <a:buFont typeface="Wingdings" pitchFamily="2" charset="2"/>
              <a:buChar char="§"/>
            </a:pPr>
            <a:r>
              <a:rPr lang="en-US" sz="2400" i="1" dirty="0" err="1" smtClean="0"/>
              <a:t>Labeo</a:t>
            </a:r>
            <a:r>
              <a:rPr lang="en-US" sz="2400" i="1" dirty="0" smtClean="0"/>
              <a:t> </a:t>
            </a:r>
            <a:r>
              <a:rPr lang="en-US" sz="2400" i="1" dirty="0" err="1"/>
              <a:t>gonius</a:t>
            </a:r>
            <a:r>
              <a:rPr lang="en-US" sz="2400" i="1" dirty="0"/>
              <a:t> </a:t>
            </a:r>
            <a:r>
              <a:rPr lang="en-US" sz="2400" dirty="0" smtClean="0"/>
              <a:t>(</a:t>
            </a:r>
            <a:r>
              <a:rPr lang="en-US" sz="2400" dirty="0" err="1" smtClean="0"/>
              <a:t>Gonia</a:t>
            </a:r>
            <a:r>
              <a:rPr lang="en-US" sz="2400" dirty="0"/>
              <a:t>, </a:t>
            </a:r>
            <a:r>
              <a:rPr lang="en-US" sz="2400" dirty="0" err="1"/>
              <a:t>Ghannia,Goni</a:t>
            </a:r>
            <a:r>
              <a:rPr lang="en-US" sz="2400" dirty="0"/>
              <a:t>, </a:t>
            </a:r>
            <a:r>
              <a:rPr lang="en-US" sz="2400" dirty="0" err="1" smtClean="0"/>
              <a:t>Kurchi</a:t>
            </a:r>
            <a:r>
              <a:rPr lang="en-US" sz="2400" dirty="0" smtClean="0"/>
              <a:t>)</a:t>
            </a:r>
          </a:p>
          <a:p>
            <a:pPr algn="just">
              <a:buFont typeface="Wingdings" pitchFamily="2" charset="2"/>
              <a:buChar char="§"/>
            </a:pPr>
            <a:r>
              <a:rPr lang="en-US" sz="2400" i="1" dirty="0" err="1"/>
              <a:t>Nandus</a:t>
            </a:r>
            <a:r>
              <a:rPr lang="en-US" sz="2400" i="1" dirty="0"/>
              <a:t> </a:t>
            </a:r>
            <a:r>
              <a:rPr lang="en-US" sz="2400" i="1" dirty="0" err="1"/>
              <a:t>nandus</a:t>
            </a:r>
            <a:r>
              <a:rPr lang="en-US" sz="2400" i="1" dirty="0"/>
              <a:t> </a:t>
            </a:r>
            <a:r>
              <a:rPr lang="en-US" sz="2400" dirty="0" smtClean="0"/>
              <a:t>(</a:t>
            </a:r>
            <a:r>
              <a:rPr lang="en-US" sz="2400" dirty="0" err="1" smtClean="0"/>
              <a:t>Bheda</a:t>
            </a:r>
            <a:r>
              <a:rPr lang="en-US" sz="2400" dirty="0"/>
              <a:t>, </a:t>
            </a:r>
            <a:r>
              <a:rPr lang="en-US" sz="2400" dirty="0" err="1"/>
              <a:t>Meni</a:t>
            </a:r>
            <a:r>
              <a:rPr lang="en-US" sz="2400" dirty="0"/>
              <a:t>, </a:t>
            </a:r>
            <a:r>
              <a:rPr lang="en-US" sz="2400" dirty="0" err="1"/>
              <a:t>Roina</a:t>
            </a:r>
            <a:r>
              <a:rPr lang="en-US" sz="2400" dirty="0"/>
              <a:t>, </a:t>
            </a:r>
            <a:r>
              <a:rPr lang="en-US" sz="2400" dirty="0" err="1" smtClean="0"/>
              <a:t>Nandui</a:t>
            </a:r>
            <a:r>
              <a:rPr lang="en-US" sz="2400" dirty="0" smtClean="0"/>
              <a:t>)</a:t>
            </a:r>
          </a:p>
          <a:p>
            <a:pPr algn="just">
              <a:buFont typeface="Wingdings" pitchFamily="2" charset="2"/>
              <a:buChar char="§"/>
            </a:pPr>
            <a:r>
              <a:rPr lang="en-US" sz="2400" i="1" dirty="0" err="1"/>
              <a:t>Badis</a:t>
            </a:r>
            <a:r>
              <a:rPr lang="en-US" sz="2400" i="1" dirty="0"/>
              <a:t> </a:t>
            </a:r>
            <a:r>
              <a:rPr lang="en-US" sz="2400" i="1" dirty="0" err="1"/>
              <a:t>badis</a:t>
            </a:r>
            <a:r>
              <a:rPr lang="en-US" sz="2400" i="1" dirty="0"/>
              <a:t> </a:t>
            </a:r>
            <a:r>
              <a:rPr lang="en-US" sz="2400" dirty="0" smtClean="0"/>
              <a:t>(</a:t>
            </a:r>
            <a:r>
              <a:rPr lang="en-US" sz="2400" dirty="0" err="1" smtClean="0"/>
              <a:t>Naptey</a:t>
            </a:r>
            <a:r>
              <a:rPr lang="en-US" sz="2400" dirty="0" smtClean="0"/>
              <a:t> </a:t>
            </a:r>
            <a:r>
              <a:rPr lang="en-US" sz="2400" dirty="0"/>
              <a:t>Koi, </a:t>
            </a:r>
            <a:r>
              <a:rPr lang="en-US" sz="2400" dirty="0" err="1"/>
              <a:t>Napit</a:t>
            </a:r>
            <a:r>
              <a:rPr lang="en-US" sz="2400" dirty="0"/>
              <a:t> Koi, Kala </a:t>
            </a:r>
            <a:r>
              <a:rPr lang="en-US" sz="2400" dirty="0" smtClean="0"/>
              <a:t>Koi)</a:t>
            </a:r>
          </a:p>
          <a:p>
            <a:pPr algn="just">
              <a:buFont typeface="Wingdings" pitchFamily="2" charset="2"/>
              <a:buChar char="§"/>
            </a:pPr>
            <a:r>
              <a:rPr lang="en-US" sz="2400" i="1" dirty="0" err="1"/>
              <a:t>Mystus</a:t>
            </a:r>
            <a:r>
              <a:rPr lang="en-US" sz="2400" i="1" dirty="0"/>
              <a:t> </a:t>
            </a:r>
            <a:r>
              <a:rPr lang="en-US" sz="2400" i="1" dirty="0" err="1"/>
              <a:t>gulio</a:t>
            </a:r>
            <a:r>
              <a:rPr lang="en-US" sz="2400" i="1" dirty="0"/>
              <a:t> </a:t>
            </a:r>
            <a:r>
              <a:rPr lang="en-US" sz="2400" dirty="0" smtClean="0"/>
              <a:t>(</a:t>
            </a:r>
            <a:r>
              <a:rPr lang="en-US" sz="2400" dirty="0" err="1" smtClean="0"/>
              <a:t>Nuna-tengra</a:t>
            </a:r>
            <a:r>
              <a:rPr lang="en-US" sz="2400" dirty="0"/>
              <a:t>/ </a:t>
            </a:r>
            <a:r>
              <a:rPr lang="en-US" sz="2400" dirty="0" err="1"/>
              <a:t>Guillya</a:t>
            </a:r>
            <a:r>
              <a:rPr lang="en-US" sz="2400" dirty="0"/>
              <a:t>/ </a:t>
            </a:r>
            <a:r>
              <a:rPr lang="en-US" sz="2400" dirty="0" err="1" smtClean="0"/>
              <a:t>Penchgula</a:t>
            </a:r>
            <a:r>
              <a:rPr lang="en-US" sz="2400" dirty="0" smtClean="0"/>
              <a:t>)</a:t>
            </a:r>
            <a:endParaRPr lang="en-US" sz="2400" b="1" dirty="0" smtClean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715000"/>
          </a:xfrm>
        </p:spPr>
        <p:txBody>
          <a:bodyPr>
            <a:normAutofit fontScale="92500" lnSpcReduction="20000"/>
          </a:bodyPr>
          <a:lstStyle/>
          <a:p>
            <a:pPr algn="just">
              <a:buFont typeface="Wingdings" pitchFamily="2" charset="2"/>
              <a:buChar char="q"/>
            </a:pPr>
            <a:r>
              <a:rPr lang="en-US" b="1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LEAST CONCERN (LC)</a:t>
            </a:r>
            <a:endParaRPr lang="en-US" sz="2800" b="1" dirty="0">
              <a:solidFill>
                <a:srgbClr val="00B050"/>
              </a:solidFill>
              <a:latin typeface="Arial" pitchFamily="34" charset="0"/>
              <a:cs typeface="Arial" pitchFamily="34" charset="0"/>
            </a:endParaRPr>
          </a:p>
          <a:p>
            <a:pPr algn="just">
              <a:buFont typeface="Wingdings" pitchFamily="2" charset="2"/>
              <a:buChar char="§"/>
            </a:pPr>
            <a:r>
              <a:rPr lang="en-US" sz="2700" dirty="0">
                <a:latin typeface="Arial" pitchFamily="34" charset="0"/>
                <a:cs typeface="Arial" pitchFamily="34" charset="0"/>
              </a:rPr>
              <a:t>A taxon is Least Concern when it has been evaluated against the criteria and does not qualify for Critically Endangered, Endangered, Vulnerable or Near Threatened. </a:t>
            </a:r>
            <a:r>
              <a:rPr lang="en-US" sz="27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Widespread and abundant taxa</a:t>
            </a:r>
            <a:r>
              <a:rPr lang="en-US" sz="2700" dirty="0">
                <a:latin typeface="Arial" pitchFamily="34" charset="0"/>
                <a:cs typeface="Arial" pitchFamily="34" charset="0"/>
              </a:rPr>
              <a:t> are included in this </a:t>
            </a:r>
            <a:r>
              <a:rPr lang="en-US" sz="2700" dirty="0" smtClean="0">
                <a:latin typeface="Arial" pitchFamily="34" charset="0"/>
                <a:cs typeface="Arial" pitchFamily="34" charset="0"/>
              </a:rPr>
              <a:t>category.</a:t>
            </a:r>
          </a:p>
          <a:p>
            <a:pPr algn="just">
              <a:buFont typeface="Wingdings" pitchFamily="2" charset="2"/>
              <a:buChar char="§"/>
            </a:pPr>
            <a:r>
              <a:rPr lang="en-US" sz="3000" i="1" dirty="0" err="1"/>
              <a:t>Hilsa</a:t>
            </a:r>
            <a:r>
              <a:rPr lang="en-US" sz="3000" i="1" dirty="0"/>
              <a:t> </a:t>
            </a:r>
            <a:r>
              <a:rPr lang="en-US" sz="3000" i="1" dirty="0" err="1"/>
              <a:t>kelee</a:t>
            </a:r>
            <a:r>
              <a:rPr lang="en-US" sz="3000" i="1" dirty="0"/>
              <a:t> </a:t>
            </a:r>
            <a:r>
              <a:rPr lang="en-US" sz="3000" dirty="0" smtClean="0"/>
              <a:t>(</a:t>
            </a:r>
            <a:r>
              <a:rPr lang="en-US" sz="3000" dirty="0" err="1" smtClean="0"/>
              <a:t>Gurta</a:t>
            </a:r>
            <a:r>
              <a:rPr lang="en-US" sz="3000" dirty="0" smtClean="0"/>
              <a:t> </a:t>
            </a:r>
            <a:r>
              <a:rPr lang="en-US" sz="3000" dirty="0" err="1" smtClean="0"/>
              <a:t>Ilish</a:t>
            </a:r>
            <a:r>
              <a:rPr lang="en-US" sz="3000" dirty="0" smtClean="0"/>
              <a:t>)</a:t>
            </a:r>
          </a:p>
          <a:p>
            <a:pPr algn="just">
              <a:buFont typeface="Wingdings" pitchFamily="2" charset="2"/>
              <a:buChar char="§"/>
            </a:pPr>
            <a:r>
              <a:rPr lang="en-US" sz="3000" i="1" dirty="0" err="1"/>
              <a:t>Tenualosa</a:t>
            </a:r>
            <a:r>
              <a:rPr lang="en-US" sz="3000" i="1" dirty="0"/>
              <a:t> </a:t>
            </a:r>
            <a:r>
              <a:rPr lang="en-US" sz="3000" i="1" dirty="0" err="1"/>
              <a:t>ilisha</a:t>
            </a:r>
            <a:r>
              <a:rPr lang="en-US" sz="3000" i="1" dirty="0"/>
              <a:t> </a:t>
            </a:r>
            <a:r>
              <a:rPr lang="en-US" sz="3000" dirty="0" smtClean="0"/>
              <a:t>(</a:t>
            </a:r>
            <a:r>
              <a:rPr lang="en-US" sz="3000" dirty="0" err="1" smtClean="0"/>
              <a:t>Ilish</a:t>
            </a:r>
            <a:r>
              <a:rPr lang="en-US" sz="3000" dirty="0"/>
              <a:t>, </a:t>
            </a:r>
            <a:r>
              <a:rPr lang="en-US" sz="3000" dirty="0" err="1" smtClean="0"/>
              <a:t>Ilsha</a:t>
            </a:r>
            <a:r>
              <a:rPr lang="en-US" sz="3000" dirty="0" smtClean="0"/>
              <a:t>)</a:t>
            </a:r>
          </a:p>
          <a:p>
            <a:pPr algn="just">
              <a:buFont typeface="Wingdings" pitchFamily="2" charset="2"/>
              <a:buChar char="§"/>
            </a:pPr>
            <a:r>
              <a:rPr lang="en-US" sz="3000" i="1" dirty="0" err="1"/>
              <a:t>Tenualosa</a:t>
            </a:r>
            <a:r>
              <a:rPr lang="en-US" sz="3000" i="1" dirty="0"/>
              <a:t> </a:t>
            </a:r>
            <a:r>
              <a:rPr lang="en-US" sz="3000" i="1" dirty="0" err="1"/>
              <a:t>toli</a:t>
            </a:r>
            <a:r>
              <a:rPr lang="en-US" sz="3000" dirty="0"/>
              <a:t> </a:t>
            </a:r>
            <a:r>
              <a:rPr lang="en-US" sz="3000" dirty="0" smtClean="0"/>
              <a:t>(</a:t>
            </a:r>
            <a:r>
              <a:rPr lang="en-US" sz="3000" dirty="0" err="1" smtClean="0"/>
              <a:t>Chandana</a:t>
            </a:r>
            <a:r>
              <a:rPr lang="en-US" sz="3000" dirty="0" smtClean="0"/>
              <a:t> </a:t>
            </a:r>
            <a:r>
              <a:rPr lang="en-US" sz="3000" dirty="0" err="1" smtClean="0"/>
              <a:t>Ilish</a:t>
            </a:r>
            <a:r>
              <a:rPr lang="en-US" sz="3000" dirty="0" smtClean="0"/>
              <a:t>)</a:t>
            </a:r>
          </a:p>
          <a:p>
            <a:pPr algn="just">
              <a:buFont typeface="Wingdings" pitchFamily="2" charset="2"/>
              <a:buChar char="§"/>
            </a:pPr>
            <a:r>
              <a:rPr lang="en-US" sz="3000" i="1" dirty="0" err="1"/>
              <a:t>Setipinna</a:t>
            </a:r>
            <a:r>
              <a:rPr lang="en-US" sz="3000" i="1" dirty="0"/>
              <a:t> </a:t>
            </a:r>
            <a:r>
              <a:rPr lang="en-US" sz="3000" i="1" dirty="0" err="1"/>
              <a:t>phasa</a:t>
            </a:r>
            <a:r>
              <a:rPr lang="en-US" sz="3000" i="1" dirty="0"/>
              <a:t> </a:t>
            </a:r>
            <a:r>
              <a:rPr lang="en-US" sz="3000" dirty="0" smtClean="0"/>
              <a:t>(</a:t>
            </a:r>
            <a:r>
              <a:rPr lang="en-US" sz="3000" dirty="0" err="1" smtClean="0"/>
              <a:t>Phasa</a:t>
            </a:r>
            <a:r>
              <a:rPr lang="en-US" sz="3000" dirty="0"/>
              <a:t>, </a:t>
            </a:r>
            <a:r>
              <a:rPr lang="en-US" sz="3000" dirty="0" err="1" smtClean="0"/>
              <a:t>Phasa</a:t>
            </a:r>
            <a:r>
              <a:rPr lang="en-US" sz="3000" dirty="0" smtClean="0"/>
              <a:t> </a:t>
            </a:r>
            <a:r>
              <a:rPr lang="en-US" sz="3000" dirty="0"/>
              <a:t>Kata, Tel-</a:t>
            </a:r>
            <a:r>
              <a:rPr lang="en-US" sz="3000" dirty="0" err="1"/>
              <a:t>tampori</a:t>
            </a:r>
            <a:r>
              <a:rPr lang="en-US" sz="3000" dirty="0"/>
              <a:t> </a:t>
            </a:r>
            <a:r>
              <a:rPr lang="en-US" sz="3000" dirty="0" smtClean="0"/>
              <a:t>)</a:t>
            </a:r>
          </a:p>
          <a:p>
            <a:pPr algn="just">
              <a:buFont typeface="Wingdings" pitchFamily="2" charset="2"/>
              <a:buChar char="§"/>
            </a:pPr>
            <a:r>
              <a:rPr lang="en-US" sz="3000" i="1" dirty="0" err="1"/>
              <a:t>Catla</a:t>
            </a:r>
            <a:r>
              <a:rPr lang="en-US" sz="3000" i="1" dirty="0"/>
              <a:t> </a:t>
            </a:r>
            <a:r>
              <a:rPr lang="en-US" sz="3000" i="1" dirty="0" err="1"/>
              <a:t>catla</a:t>
            </a:r>
            <a:r>
              <a:rPr lang="en-US" sz="3000" i="1" dirty="0"/>
              <a:t> </a:t>
            </a:r>
            <a:r>
              <a:rPr lang="en-US" sz="3000" dirty="0" smtClean="0"/>
              <a:t>(</a:t>
            </a:r>
            <a:r>
              <a:rPr lang="en-US" sz="3000" dirty="0" err="1" smtClean="0"/>
              <a:t>Catla</a:t>
            </a:r>
            <a:r>
              <a:rPr lang="en-US" sz="3000" dirty="0"/>
              <a:t>, </a:t>
            </a:r>
            <a:r>
              <a:rPr lang="en-US" sz="3000" dirty="0" smtClean="0"/>
              <a:t>Kato)</a:t>
            </a:r>
          </a:p>
          <a:p>
            <a:pPr algn="just">
              <a:buFont typeface="Wingdings" pitchFamily="2" charset="2"/>
              <a:buChar char="§"/>
            </a:pPr>
            <a:r>
              <a:rPr lang="en-US" sz="3000" i="1" dirty="0" err="1"/>
              <a:t>Labeo</a:t>
            </a:r>
            <a:r>
              <a:rPr lang="en-US" sz="3000" i="1" dirty="0"/>
              <a:t> </a:t>
            </a:r>
            <a:r>
              <a:rPr lang="en-US" sz="3000" i="1" dirty="0" err="1"/>
              <a:t>bata</a:t>
            </a:r>
            <a:r>
              <a:rPr lang="en-US" sz="3000" dirty="0"/>
              <a:t> </a:t>
            </a:r>
            <a:r>
              <a:rPr lang="en-US" sz="3000" dirty="0" smtClean="0"/>
              <a:t>( </a:t>
            </a:r>
            <a:r>
              <a:rPr lang="en-US" sz="3000" dirty="0"/>
              <a:t>Bata, </a:t>
            </a:r>
            <a:r>
              <a:rPr lang="en-US" sz="3000" dirty="0" err="1"/>
              <a:t>Bhangon</a:t>
            </a:r>
            <a:r>
              <a:rPr lang="en-US" sz="3000" dirty="0"/>
              <a:t> Bata </a:t>
            </a:r>
            <a:r>
              <a:rPr lang="en-US" sz="3000" dirty="0" smtClean="0"/>
              <a:t>)</a:t>
            </a:r>
          </a:p>
          <a:p>
            <a:pPr algn="just">
              <a:buFont typeface="Wingdings" pitchFamily="2" charset="2"/>
              <a:buChar char="§"/>
            </a:pPr>
            <a:r>
              <a:rPr lang="en-US" sz="3000" i="1" dirty="0" err="1"/>
              <a:t>Labeo</a:t>
            </a:r>
            <a:r>
              <a:rPr lang="en-US" sz="3000" i="1" dirty="0"/>
              <a:t> </a:t>
            </a:r>
            <a:r>
              <a:rPr lang="en-US" sz="3000" i="1" dirty="0" err="1"/>
              <a:t>calbasu</a:t>
            </a:r>
            <a:r>
              <a:rPr lang="en-US" sz="3000" i="1" dirty="0"/>
              <a:t> </a:t>
            </a:r>
            <a:r>
              <a:rPr lang="en-US" sz="3000" dirty="0" smtClean="0"/>
              <a:t>(</a:t>
            </a:r>
            <a:r>
              <a:rPr lang="en-US" sz="3000" dirty="0" err="1" smtClean="0"/>
              <a:t>Kalibaos</a:t>
            </a:r>
            <a:r>
              <a:rPr lang="en-US" sz="3000" dirty="0"/>
              <a:t>, </a:t>
            </a:r>
            <a:r>
              <a:rPr lang="en-US" sz="3000" dirty="0" err="1" smtClean="0"/>
              <a:t>Baus</a:t>
            </a:r>
            <a:r>
              <a:rPr lang="en-US" sz="3000" dirty="0" smtClean="0"/>
              <a:t>)</a:t>
            </a:r>
          </a:p>
          <a:p>
            <a:pPr algn="just">
              <a:buFont typeface="Wingdings" pitchFamily="2" charset="2"/>
              <a:buChar char="§"/>
            </a:pPr>
            <a:r>
              <a:rPr lang="en-US" sz="3000" i="1" dirty="0" err="1"/>
              <a:t>Labeo</a:t>
            </a:r>
            <a:r>
              <a:rPr lang="en-US" sz="3000" i="1" dirty="0"/>
              <a:t> </a:t>
            </a:r>
            <a:r>
              <a:rPr lang="en-US" sz="3000" i="1" dirty="0" err="1"/>
              <a:t>rohita</a:t>
            </a:r>
            <a:r>
              <a:rPr lang="en-US" sz="3000" i="1" dirty="0"/>
              <a:t> </a:t>
            </a:r>
            <a:r>
              <a:rPr lang="en-US" sz="3000" dirty="0" smtClean="0"/>
              <a:t>(</a:t>
            </a:r>
            <a:r>
              <a:rPr lang="en-US" sz="3000" dirty="0" err="1" smtClean="0"/>
              <a:t>Rui</a:t>
            </a:r>
            <a:r>
              <a:rPr lang="en-US" sz="3000" dirty="0"/>
              <a:t>, </a:t>
            </a:r>
            <a:r>
              <a:rPr lang="en-US" sz="3000" dirty="0" err="1"/>
              <a:t>Rohit</a:t>
            </a:r>
            <a:r>
              <a:rPr lang="en-US" sz="3000" dirty="0"/>
              <a:t>, </a:t>
            </a:r>
            <a:r>
              <a:rPr lang="en-US" sz="3000" dirty="0" err="1" smtClean="0"/>
              <a:t>Ruee</a:t>
            </a:r>
            <a:r>
              <a:rPr lang="en-US" sz="3000" dirty="0" smtClean="0"/>
              <a:t>)</a:t>
            </a:r>
            <a:endParaRPr lang="en-US" sz="3000" b="1" dirty="0"/>
          </a:p>
        </p:txBody>
      </p:sp>
    </p:spTree>
    <p:extLst>
      <p:ext uri="{BB962C8B-B14F-4D97-AF65-F5344CB8AC3E}">
        <p14:creationId xmlns:p14="http://schemas.microsoft.com/office/powerpoint/2010/main" val="2083200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4525963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q"/>
            </a:pPr>
            <a:r>
              <a:rPr lang="en-US" sz="2200" b="1" dirty="0">
                <a:solidFill>
                  <a:srgbClr val="FFC000"/>
                </a:solidFill>
                <a:latin typeface="Arial" pitchFamily="34" charset="0"/>
                <a:cs typeface="Arial" pitchFamily="34" charset="0"/>
              </a:rPr>
              <a:t>DATA DEFICIENT (DD) </a:t>
            </a:r>
            <a:endParaRPr lang="en-US" sz="2200" b="1" dirty="0" smtClean="0">
              <a:solidFill>
                <a:srgbClr val="FFC000"/>
              </a:solidFill>
              <a:latin typeface="Arial" pitchFamily="34" charset="0"/>
              <a:cs typeface="Arial" pitchFamily="34" charset="0"/>
            </a:endParaRPr>
          </a:p>
          <a:p>
            <a:pPr algn="just">
              <a:buFont typeface="Wingdings" pitchFamily="2" charset="2"/>
              <a:buChar char="§"/>
            </a:pPr>
            <a:r>
              <a:rPr lang="en-US" sz="2200" dirty="0" smtClean="0">
                <a:latin typeface="Arial" pitchFamily="34" charset="0"/>
                <a:cs typeface="Arial" pitchFamily="34" charset="0"/>
              </a:rPr>
              <a:t>A </a:t>
            </a:r>
            <a:r>
              <a:rPr lang="en-US" sz="2200" dirty="0">
                <a:latin typeface="Arial" pitchFamily="34" charset="0"/>
                <a:cs typeface="Arial" pitchFamily="34" charset="0"/>
              </a:rPr>
              <a:t>taxon is Data Deficient when there is </a:t>
            </a:r>
            <a:r>
              <a:rPr lang="en-US" sz="2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inadequate information</a:t>
            </a:r>
            <a:r>
              <a:rPr lang="en-US" sz="2200" dirty="0">
                <a:latin typeface="Arial" pitchFamily="34" charset="0"/>
                <a:cs typeface="Arial" pitchFamily="34" charset="0"/>
              </a:rPr>
              <a:t> to make a direct, or indirect, assessment of its risk of extinction based on its distribution and/or population status</a:t>
            </a:r>
            <a:r>
              <a:rPr lang="en-US" sz="22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q"/>
            </a:pPr>
            <a:r>
              <a:rPr lang="en-US" sz="2200" b="1" dirty="0">
                <a:solidFill>
                  <a:srgbClr val="00B0F0"/>
                </a:solidFill>
                <a:latin typeface="Arial" pitchFamily="34" charset="0"/>
                <a:cs typeface="Arial" pitchFamily="34" charset="0"/>
              </a:rPr>
              <a:t>NOT EVALUATED (NE</a:t>
            </a:r>
            <a:r>
              <a:rPr lang="en-US" sz="2200" b="1" dirty="0" smtClean="0">
                <a:solidFill>
                  <a:srgbClr val="00B0F0"/>
                </a:solidFill>
                <a:latin typeface="Arial" pitchFamily="34" charset="0"/>
                <a:cs typeface="Arial" pitchFamily="34" charset="0"/>
              </a:rPr>
              <a:t>)</a:t>
            </a:r>
          </a:p>
          <a:p>
            <a:pPr algn="just">
              <a:buFont typeface="Wingdings" pitchFamily="2" charset="2"/>
              <a:buChar char="§"/>
            </a:pPr>
            <a:r>
              <a:rPr lang="en-US" sz="2200" dirty="0">
                <a:latin typeface="Arial" pitchFamily="34" charset="0"/>
                <a:cs typeface="Arial" pitchFamily="34" charset="0"/>
              </a:rPr>
              <a:t>A taxon is Not Evaluated when it has not yet been evaluated against the criteria</a:t>
            </a:r>
            <a:r>
              <a:rPr lang="en-US" sz="22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q"/>
            </a:pPr>
            <a:r>
              <a:rPr lang="en-US" sz="22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NOT APPLICABLE (NA) </a:t>
            </a:r>
            <a:endParaRPr lang="en-US" sz="2200" b="1" dirty="0" smtClean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  <a:p>
            <a:pPr algn="just">
              <a:buFont typeface="Wingdings" pitchFamily="2" charset="2"/>
              <a:buChar char="§"/>
            </a:pPr>
            <a:r>
              <a:rPr lang="en-US" sz="2200" dirty="0" smtClean="0">
                <a:latin typeface="Arial" pitchFamily="34" charset="0"/>
                <a:cs typeface="Arial" pitchFamily="34" charset="0"/>
              </a:rPr>
              <a:t>Category </a:t>
            </a:r>
            <a:r>
              <a:rPr lang="en-US" sz="2200" dirty="0">
                <a:latin typeface="Arial" pitchFamily="34" charset="0"/>
                <a:cs typeface="Arial" pitchFamily="34" charset="0"/>
              </a:rPr>
              <a:t>for a taxon deemed to be ineligible for assessment at a regional level. A taxon may be NA because it is not a wild population or not within its natural range in the region, or because it is a vagrant to the region. It may also be NA because it occurs at very low numbers in the region </a:t>
            </a:r>
            <a:r>
              <a:rPr lang="en-US" sz="2200" dirty="0" smtClean="0">
                <a:latin typeface="Arial" pitchFamily="34" charset="0"/>
                <a:cs typeface="Arial" pitchFamily="34" charset="0"/>
              </a:rPr>
              <a:t>or </a:t>
            </a:r>
            <a:r>
              <a:rPr lang="en-US" sz="2200" dirty="0">
                <a:latin typeface="Arial" pitchFamily="34" charset="0"/>
                <a:cs typeface="Arial" pitchFamily="34" charset="0"/>
              </a:rPr>
              <a:t>the taxon may be classified at a lower taxonomic </a:t>
            </a:r>
            <a:r>
              <a:rPr lang="en-US" sz="2200" dirty="0" smtClean="0">
                <a:latin typeface="Arial" pitchFamily="34" charset="0"/>
                <a:cs typeface="Arial" pitchFamily="34" charset="0"/>
              </a:rPr>
              <a:t>level </a:t>
            </a:r>
            <a:r>
              <a:rPr lang="en-US" sz="2200" dirty="0">
                <a:latin typeface="Arial" pitchFamily="34" charset="0"/>
                <a:cs typeface="Arial" pitchFamily="34" charset="0"/>
              </a:rPr>
              <a:t>than considered eligible by the regional Red List authority. </a:t>
            </a:r>
          </a:p>
        </p:txBody>
      </p:sp>
    </p:spTree>
    <p:extLst>
      <p:ext uri="{BB962C8B-B14F-4D97-AF65-F5344CB8AC3E}">
        <p14:creationId xmlns:p14="http://schemas.microsoft.com/office/powerpoint/2010/main" val="4637478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Key Roles of the Red List in Conservation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1"/>
            <a:ext cx="8229600" cy="5334000"/>
          </a:xfrm>
        </p:spPr>
        <p:txBody>
          <a:bodyPr>
            <a:noAutofit/>
          </a:bodyPr>
          <a:lstStyle/>
          <a:p>
            <a:pPr algn="just"/>
            <a:r>
              <a:rPr lang="en-US" sz="2000" b="1" dirty="0" smtClean="0">
                <a:latin typeface="Arial" pitchFamily="34" charset="0"/>
                <a:cs typeface="Arial" pitchFamily="34" charset="0"/>
              </a:rPr>
              <a:t>Threat 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Assessment:</a:t>
            </a:r>
          </a:p>
          <a:p>
            <a:pPr algn="just"/>
            <a:r>
              <a:rPr lang="en-US" sz="2400" dirty="0">
                <a:latin typeface="Arial" pitchFamily="34" charset="0"/>
                <a:cs typeface="Arial" pitchFamily="34" charset="0"/>
              </a:rPr>
              <a:t>The Red List categorizes species into threat levels (e.g., Vulnerable, Endangered, Critically Endangered) based on globally accepted criteria, providing a clear indication of their extinction risk. </a:t>
            </a:r>
          </a:p>
          <a:p>
            <a:pPr algn="just"/>
            <a:r>
              <a:rPr lang="en-US" sz="2400" dirty="0">
                <a:latin typeface="Arial" pitchFamily="34" charset="0"/>
                <a:cs typeface="Arial" pitchFamily="34" charset="0"/>
              </a:rPr>
              <a:t>Prioritization:</a:t>
            </a:r>
          </a:p>
          <a:p>
            <a:pPr algn="just"/>
            <a:r>
              <a:rPr lang="en-US" sz="2400" dirty="0">
                <a:latin typeface="Arial" pitchFamily="34" charset="0"/>
                <a:cs typeface="Arial" pitchFamily="34" charset="0"/>
              </a:rPr>
              <a:t>It helps identify which species and ecosystems are most in danger, allowing conservation organizations and governments to focus limited resources on the most critical threats. </a:t>
            </a:r>
          </a:p>
          <a:p>
            <a:pPr algn="just"/>
            <a:r>
              <a:rPr lang="en-US" sz="2400" dirty="0">
                <a:latin typeface="Arial" pitchFamily="34" charset="0"/>
                <a:cs typeface="Arial" pitchFamily="34" charset="0"/>
              </a:rPr>
              <a:t>Informing Policy and Planning:</a:t>
            </a:r>
          </a:p>
          <a:p>
            <a:pPr algn="just"/>
            <a:r>
              <a:rPr lang="en-US" sz="2400" dirty="0">
                <a:latin typeface="Arial" pitchFamily="34" charset="0"/>
                <a:cs typeface="Arial" pitchFamily="34" charset="0"/>
              </a:rPr>
              <a:t>National and regional Red Lists provide crucial data for developing and implementing conservation strategies, policies, and action plans. </a:t>
            </a:r>
          </a:p>
        </p:txBody>
      </p:sp>
    </p:spTree>
    <p:extLst>
      <p:ext uri="{BB962C8B-B14F-4D97-AF65-F5344CB8AC3E}">
        <p14:creationId xmlns:p14="http://schemas.microsoft.com/office/powerpoint/2010/main" val="1484924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Key Roles of the Red List in Conservation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algn="just"/>
            <a:r>
              <a:rPr lang="en-US" dirty="0">
                <a:latin typeface="Arial" pitchFamily="34" charset="0"/>
                <a:cs typeface="Arial" pitchFamily="34" charset="0"/>
              </a:rPr>
              <a:t>Measuring Progress:</a:t>
            </a:r>
          </a:p>
          <a:p>
            <a:pPr algn="just"/>
            <a:r>
              <a:rPr lang="en-US" dirty="0">
                <a:latin typeface="Arial" pitchFamily="34" charset="0"/>
                <a:cs typeface="Arial" pitchFamily="34" charset="0"/>
              </a:rPr>
              <a:t>The Red List allows countries to measure and report on their progress towards international biodiversity commitments, such as those under the Convention on Biological Diversity. </a:t>
            </a:r>
          </a:p>
          <a:p>
            <a:pPr algn="just"/>
            <a:r>
              <a:rPr lang="en-US" dirty="0">
                <a:latin typeface="Arial" pitchFamily="34" charset="0"/>
                <a:cs typeface="Arial" pitchFamily="34" charset="0"/>
              </a:rPr>
              <a:t>Guiding Conservation Actions:</a:t>
            </a:r>
          </a:p>
          <a:p>
            <a:pPr algn="just"/>
            <a:r>
              <a:rPr lang="en-US" dirty="0">
                <a:latin typeface="Arial" pitchFamily="34" charset="0"/>
                <a:cs typeface="Arial" pitchFamily="34" charset="0"/>
              </a:rPr>
              <a:t>The detailed information on species' distributions, threats, and ecological needs provided by the Red List supports the planning and implementation of recovery and conservation efforts. </a:t>
            </a:r>
          </a:p>
          <a:p>
            <a:pPr algn="just"/>
            <a:r>
              <a:rPr lang="en-US" dirty="0">
                <a:latin typeface="Arial" pitchFamily="34" charset="0"/>
                <a:cs typeface="Arial" pitchFamily="34" charset="0"/>
              </a:rPr>
              <a:t>Raising Awareness:</a:t>
            </a:r>
          </a:p>
          <a:p>
            <a:pPr algn="just"/>
            <a:r>
              <a:rPr lang="en-US" dirty="0">
                <a:latin typeface="Arial" pitchFamily="34" charset="0"/>
                <a:cs typeface="Arial" pitchFamily="34" charset="0"/>
              </a:rPr>
              <a:t>By highlighting threatened species and the health of the planet's biodiversity, the Red List serves as a powerful communication tool, educating the public and decision-makers about the importance of conservation. </a:t>
            </a:r>
          </a:p>
          <a:p>
            <a:pPr algn="just"/>
            <a:r>
              <a:rPr lang="en-US" dirty="0">
                <a:latin typeface="Arial" pitchFamily="34" charset="0"/>
                <a:cs typeface="Arial" pitchFamily="34" charset="0"/>
              </a:rPr>
              <a:t>Barometer of Life:</a:t>
            </a:r>
          </a:p>
          <a:p>
            <a:pPr algn="just"/>
            <a:r>
              <a:rPr lang="en-US" dirty="0">
                <a:latin typeface="Arial" pitchFamily="34" charset="0"/>
                <a:cs typeface="Arial" pitchFamily="34" charset="0"/>
              </a:rPr>
              <a:t>The Red List aims to be a "barometer of life," providing a crucial status update on the health of the world's species and ecosystems. </a:t>
            </a:r>
          </a:p>
        </p:txBody>
      </p:sp>
    </p:spTree>
    <p:extLst>
      <p:ext uri="{BB962C8B-B14F-4D97-AF65-F5344CB8AC3E}">
        <p14:creationId xmlns:p14="http://schemas.microsoft.com/office/powerpoint/2010/main" val="41034685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966</TotalTime>
  <Words>1246</Words>
  <Application>Microsoft Office PowerPoint</Application>
  <PresentationFormat>On-screen Show (4:3)</PresentationFormat>
  <Paragraphs>90</Paragraphs>
  <Slides>15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Red List of Threatened Animals</vt:lpstr>
      <vt:lpstr>PowerPoint Presentation</vt:lpstr>
      <vt:lpstr>Red List Assessment Tools</vt:lpstr>
      <vt:lpstr>Red List Assessment Tools</vt:lpstr>
      <vt:lpstr>PowerPoint Presentation</vt:lpstr>
      <vt:lpstr>Categories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Roles of the Red List in Conservation</vt:lpstr>
      <vt:lpstr>Key Roles of the Red List in Conservation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Momotaz Khanom</dc:creator>
  <cp:lastModifiedBy>Sharmin Aktar</cp:lastModifiedBy>
  <cp:revision>98</cp:revision>
  <dcterms:created xsi:type="dcterms:W3CDTF">2006-08-16T00:00:00Z</dcterms:created>
  <dcterms:modified xsi:type="dcterms:W3CDTF">2025-09-23T15:59:08Z</dcterms:modified>
</cp:coreProperties>
</file>